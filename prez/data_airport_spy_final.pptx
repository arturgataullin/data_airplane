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ppt/theme/theme1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9" r:id="rId1"/>
    <p:sldMasterId id="2147483671" r:id="rId2"/>
    <p:sldMasterId id="2147483655" r:id="rId3"/>
    <p:sldMasterId id="2147483653" r:id="rId4"/>
    <p:sldMasterId id="2147483673" r:id="rId5"/>
    <p:sldMasterId id="2147483657" r:id="rId6"/>
    <p:sldMasterId id="2147483659" r:id="rId7"/>
    <p:sldMasterId id="2147483661" r:id="rId8"/>
    <p:sldMasterId id="2147483663" r:id="rId9"/>
    <p:sldMasterId id="2147483665" r:id="rId10"/>
    <p:sldMasterId id="2147483667" r:id="rId11"/>
  </p:sldMasterIdLst>
  <p:handoutMasterIdLst>
    <p:handoutMasterId r:id="rId31"/>
  </p:handoutMasterIdLst>
  <p:sldIdLst>
    <p:sldId id="263" r:id="rId12"/>
    <p:sldId id="271" r:id="rId13"/>
    <p:sldId id="270" r:id="rId14"/>
    <p:sldId id="275" r:id="rId15"/>
    <p:sldId id="276" r:id="rId16"/>
    <p:sldId id="277" r:id="rId17"/>
    <p:sldId id="278" r:id="rId18"/>
    <p:sldId id="265" r:id="rId19"/>
    <p:sldId id="264" r:id="rId20"/>
    <p:sldId id="266" r:id="rId21"/>
    <p:sldId id="267" r:id="rId22"/>
    <p:sldId id="268" r:id="rId23"/>
    <p:sldId id="279" r:id="rId24"/>
    <p:sldId id="272" r:id="rId25"/>
    <p:sldId id="280" r:id="rId26"/>
    <p:sldId id="273" r:id="rId27"/>
    <p:sldId id="274" r:id="rId28"/>
    <p:sldId id="269" r:id="rId29"/>
    <p:sldId id="281" r:id="rId30"/>
  </p:sldIdLst>
  <p:sldSz cx="12192000" cy="6858000"/>
  <p:notesSz cx="6858000" cy="9144000"/>
  <p:embeddedFontLst>
    <p:embeddedFont>
      <p:font typeface="Montserrat" panose="00000500000000000000" pitchFamily="2" charset="0"/>
      <p:regular r:id="rId32"/>
      <p:bold r:id="rId33"/>
      <p:italic r:id="rId34"/>
      <p:boldItalic r:id="rId35"/>
    </p:embeddedFont>
    <p:embeddedFont>
      <p:font typeface="Roboto" panose="02000000000000000000" pitchFamily="2" charset="0"/>
      <p:regular r:id="rId36"/>
      <p:bold r:id="rId37"/>
      <p:italic r:id="rId38"/>
      <p:boldItalic r:id="rId39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47"/>
    <a:srgbClr val="00004F"/>
    <a:srgbClr val="004098"/>
    <a:srgbClr val="E8F2FF"/>
    <a:srgbClr val="0953BA"/>
    <a:srgbClr val="809F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50011B5-378E-7B59-D6B8-8384A690BF74}" v="1675" dt="2025-11-06T17:41:42.10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786" autoAdjust="0"/>
    <p:restoredTop sz="94660"/>
  </p:normalViewPr>
  <p:slideViewPr>
    <p:cSldViewPr snapToGrid="0" showGuides="1">
      <p:cViewPr varScale="1">
        <p:scale>
          <a:sx n="74" d="100"/>
          <a:sy n="74" d="100"/>
        </p:scale>
        <p:origin x="588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7" d="100"/>
          <a:sy n="57" d="100"/>
        </p:scale>
        <p:origin x="283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2.xml"/><Relationship Id="rId18" Type="http://schemas.openxmlformats.org/officeDocument/2006/relationships/slide" Target="slides/slide7.xml"/><Relationship Id="rId26" Type="http://schemas.openxmlformats.org/officeDocument/2006/relationships/slide" Target="slides/slide15.xml"/><Relationship Id="rId39" Type="http://schemas.openxmlformats.org/officeDocument/2006/relationships/font" Target="fonts/font8.fntdata"/><Relationship Id="rId21" Type="http://schemas.openxmlformats.org/officeDocument/2006/relationships/slide" Target="slides/slide10.xml"/><Relationship Id="rId34" Type="http://schemas.openxmlformats.org/officeDocument/2006/relationships/font" Target="fonts/font3.fntdata"/><Relationship Id="rId42" Type="http://schemas.openxmlformats.org/officeDocument/2006/relationships/theme" Target="theme/theme1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5.xml"/><Relationship Id="rId20" Type="http://schemas.openxmlformats.org/officeDocument/2006/relationships/slide" Target="slides/slide9.xml"/><Relationship Id="rId29" Type="http://schemas.openxmlformats.org/officeDocument/2006/relationships/slide" Target="slides/slide1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1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4.xml"/><Relationship Id="rId23" Type="http://schemas.openxmlformats.org/officeDocument/2006/relationships/slide" Target="slides/slide12.xml"/><Relationship Id="rId28" Type="http://schemas.openxmlformats.org/officeDocument/2006/relationships/slide" Target="slides/slide17.xml"/><Relationship Id="rId36" Type="http://schemas.openxmlformats.org/officeDocument/2006/relationships/font" Target="fonts/font5.fntdata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8.xml"/><Relationship Id="rId31" Type="http://schemas.openxmlformats.org/officeDocument/2006/relationships/handoutMaster" Target="handoutMasters/handoutMaster1.xml"/><Relationship Id="rId44" Type="http://schemas.microsoft.com/office/2015/10/relationships/revisionInfo" Target="revisionInfo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3.xml"/><Relationship Id="rId22" Type="http://schemas.openxmlformats.org/officeDocument/2006/relationships/slide" Target="slides/slide11.xml"/><Relationship Id="rId27" Type="http://schemas.openxmlformats.org/officeDocument/2006/relationships/slide" Target="slides/slide16.xml"/><Relationship Id="rId30" Type="http://schemas.openxmlformats.org/officeDocument/2006/relationships/slide" Target="slides/slide19.xml"/><Relationship Id="rId35" Type="http://schemas.openxmlformats.org/officeDocument/2006/relationships/font" Target="fonts/font4.fntdata"/><Relationship Id="rId43" Type="http://schemas.openxmlformats.org/officeDocument/2006/relationships/tableStyles" Target="tableStyles.xml"/><Relationship Id="rId8" Type="http://schemas.openxmlformats.org/officeDocument/2006/relationships/slideMaster" Target="slideMasters/slideMaster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1.xml"/><Relationship Id="rId17" Type="http://schemas.openxmlformats.org/officeDocument/2006/relationships/slide" Target="slides/slide6.xml"/><Relationship Id="rId25" Type="http://schemas.openxmlformats.org/officeDocument/2006/relationships/slide" Target="slides/slide14.xml"/><Relationship Id="rId33" Type="http://schemas.openxmlformats.org/officeDocument/2006/relationships/font" Target="fonts/font2.fntdata"/><Relationship Id="rId38" Type="http://schemas.openxmlformats.org/officeDocument/2006/relationships/font" Target="fonts/font7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EE3F43-65BD-4C41-B2A5-54A0542B9345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751D6B-C639-4DCE-ACBE-ACBD018C47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24265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F25E86-4E3F-4428-9180-C4DFA3507F01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5DFDE0F-88AD-4E49-8A17-00B261B40DD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0462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685800" indent="-228600">
              <a:buFont typeface="Wingdings" panose="05000000000000000000" pitchFamily="2" charset="2"/>
              <a:buChar char="§"/>
              <a:defRPr/>
            </a:lvl2pPr>
            <a:lvl3pPr marL="1143000" indent="-228600">
              <a:buFont typeface="Wingdings" panose="05000000000000000000" pitchFamily="2" charset="2"/>
              <a:buChar char="§"/>
              <a:defRPr/>
            </a:lvl3pPr>
            <a:lvl4pPr marL="1600200" indent="-228600">
              <a:buFont typeface="Wingdings" panose="05000000000000000000" pitchFamily="2" charset="2"/>
              <a:buChar char="§"/>
              <a:defRPr/>
            </a:lvl4pPr>
            <a:lvl5pPr marL="2057400" indent="-228600"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F25E86-4E3F-4428-9180-C4DFA3507F01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5DFDE0F-88AD-4E49-8A17-00B261B40DD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6226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685800" indent="-228600">
              <a:buFont typeface="Wingdings" panose="05000000000000000000" pitchFamily="2" charset="2"/>
              <a:buChar char="§"/>
              <a:defRPr/>
            </a:lvl2pPr>
            <a:lvl3pPr marL="1143000" indent="-228600">
              <a:buFont typeface="Wingdings" panose="05000000000000000000" pitchFamily="2" charset="2"/>
              <a:buChar char="§"/>
              <a:defRPr/>
            </a:lvl3pPr>
            <a:lvl4pPr marL="1600200" indent="-228600">
              <a:buFont typeface="Wingdings" panose="05000000000000000000" pitchFamily="2" charset="2"/>
              <a:buChar char="§"/>
              <a:defRPr/>
            </a:lvl4pPr>
            <a:lvl5pPr marL="2057400" indent="-228600"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F25E86-4E3F-4428-9180-C4DFA3507F01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5DFDE0F-88AD-4E49-8A17-00B261B40DD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8398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685800" indent="-228600">
              <a:buClr>
                <a:srgbClr val="0953BA"/>
              </a:buClr>
              <a:buFont typeface="Wingdings" panose="05000000000000000000" pitchFamily="2" charset="2"/>
              <a:buChar char="§"/>
              <a:defRPr/>
            </a:lvl2pPr>
            <a:lvl3pPr marL="1143000" indent="-228600">
              <a:buClr>
                <a:srgbClr val="0953BA"/>
              </a:buClr>
              <a:buFont typeface="Wingdings" panose="05000000000000000000" pitchFamily="2" charset="2"/>
              <a:buChar char="§"/>
              <a:defRPr/>
            </a:lvl3pPr>
            <a:lvl4pPr marL="1600200" indent="-228600">
              <a:buClr>
                <a:srgbClr val="0953BA"/>
              </a:buClr>
              <a:buFont typeface="Wingdings" panose="05000000000000000000" pitchFamily="2" charset="2"/>
              <a:buChar char="§"/>
              <a:defRPr/>
            </a:lvl4pPr>
            <a:lvl5pPr marL="2057400" indent="-228600">
              <a:buClr>
                <a:srgbClr val="0953BA"/>
              </a:buClr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F25E86-4E3F-4428-9180-C4DFA3507F01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5DFDE0F-88AD-4E49-8A17-00B261B40DD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37358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685800" indent="-228600">
              <a:buFont typeface="Wingdings" panose="05000000000000000000" pitchFamily="2" charset="2"/>
              <a:buChar char="§"/>
              <a:defRPr/>
            </a:lvl2pPr>
            <a:lvl3pPr marL="1143000" indent="-228600">
              <a:buFont typeface="Wingdings" panose="05000000000000000000" pitchFamily="2" charset="2"/>
              <a:buChar char="§"/>
              <a:defRPr/>
            </a:lvl3pPr>
            <a:lvl4pPr marL="1600200" indent="-228600">
              <a:buFont typeface="Wingdings" panose="05000000000000000000" pitchFamily="2" charset="2"/>
              <a:buChar char="§"/>
              <a:defRPr/>
            </a:lvl4pPr>
            <a:lvl5pPr marL="2057400" indent="-228600"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F25E86-4E3F-4428-9180-C4DFA3507F01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5DFDE0F-88AD-4E49-8A17-00B261B40DD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46091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685800" indent="-228600">
              <a:buClr>
                <a:srgbClr val="0953BA"/>
              </a:buClr>
              <a:buFont typeface="Wingdings" panose="05000000000000000000" pitchFamily="2" charset="2"/>
              <a:buChar char="§"/>
              <a:defRPr/>
            </a:lvl2pPr>
            <a:lvl3pPr marL="1143000" indent="-228600">
              <a:buClr>
                <a:srgbClr val="0953BA"/>
              </a:buClr>
              <a:buFont typeface="Wingdings" panose="05000000000000000000" pitchFamily="2" charset="2"/>
              <a:buChar char="§"/>
              <a:defRPr/>
            </a:lvl3pPr>
            <a:lvl4pPr marL="1600200" indent="-228600">
              <a:buClr>
                <a:srgbClr val="0953BA"/>
              </a:buClr>
              <a:buFont typeface="Wingdings" panose="05000000000000000000" pitchFamily="2" charset="2"/>
              <a:buChar char="§"/>
              <a:defRPr/>
            </a:lvl4pPr>
            <a:lvl5pPr marL="2057400" indent="-228600">
              <a:buClr>
                <a:srgbClr val="0953BA"/>
              </a:buClr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F25E86-4E3F-4428-9180-C4DFA3507F01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5DFDE0F-88AD-4E49-8A17-00B261B40DD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2150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F25E86-4E3F-4428-9180-C4DFA3507F01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5DFDE0F-88AD-4E49-8A17-00B261B40DD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9804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685800" indent="-228600">
              <a:buClr>
                <a:srgbClr val="0953BA"/>
              </a:buClr>
              <a:buFont typeface="Wingdings" panose="05000000000000000000" pitchFamily="2" charset="2"/>
              <a:buChar char="§"/>
              <a:defRPr/>
            </a:lvl2pPr>
            <a:lvl3pPr marL="1143000" indent="-228600">
              <a:buClr>
                <a:srgbClr val="0953BA"/>
              </a:buClr>
              <a:buFont typeface="Wingdings" panose="05000000000000000000" pitchFamily="2" charset="2"/>
              <a:buChar char="§"/>
              <a:defRPr/>
            </a:lvl3pPr>
            <a:lvl4pPr marL="1600200" indent="-228600">
              <a:buClr>
                <a:srgbClr val="0953BA"/>
              </a:buClr>
              <a:buFont typeface="Wingdings" panose="05000000000000000000" pitchFamily="2" charset="2"/>
              <a:buChar char="§"/>
              <a:defRPr/>
            </a:lvl4pPr>
            <a:lvl5pPr marL="2057400" indent="-228600">
              <a:buClr>
                <a:srgbClr val="0953BA"/>
              </a:buClr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F25E86-4E3F-4428-9180-C4DFA3507F01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5DFDE0F-88AD-4E49-8A17-00B261B40DD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08367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F25E86-4E3F-4428-9180-C4DFA3507F01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5DFDE0F-88AD-4E49-8A17-00B261B40DD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19655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685800" indent="-228600">
              <a:buClr>
                <a:srgbClr val="0953BA"/>
              </a:buClr>
              <a:buFont typeface="Wingdings" panose="05000000000000000000" pitchFamily="2" charset="2"/>
              <a:buChar char="§"/>
              <a:defRPr/>
            </a:lvl2pPr>
            <a:lvl3pPr marL="1143000" indent="-228600">
              <a:buClr>
                <a:srgbClr val="0953BA"/>
              </a:buClr>
              <a:buFont typeface="Wingdings" panose="05000000000000000000" pitchFamily="2" charset="2"/>
              <a:buChar char="§"/>
              <a:defRPr/>
            </a:lvl3pPr>
            <a:lvl4pPr marL="1600200" indent="-228600">
              <a:buClr>
                <a:srgbClr val="0953BA"/>
              </a:buClr>
              <a:buFont typeface="Wingdings" panose="05000000000000000000" pitchFamily="2" charset="2"/>
              <a:buChar char="§"/>
              <a:defRPr/>
            </a:lvl4pPr>
            <a:lvl5pPr marL="2057400" indent="-228600">
              <a:buClr>
                <a:srgbClr val="0953BA"/>
              </a:buClr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F25E86-4E3F-4428-9180-C4DFA3507F01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5DFDE0F-88AD-4E49-8A17-00B261B40DD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1418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Последний слайд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409944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654" y="5143500"/>
            <a:ext cx="3951017" cy="1033463"/>
          </a:xfrm>
          <a:prstGeom prst="rect">
            <a:avLst/>
          </a:prstGeom>
        </p:spPr>
      </p:pic>
      <p:sp>
        <p:nvSpPr>
          <p:cNvPr id="9" name="Объект 2"/>
          <p:cNvSpPr>
            <a:spLocks noGrp="1"/>
          </p:cNvSpPr>
          <p:nvPr>
            <p:ph idx="10" hasCustomPrompt="1"/>
          </p:nvPr>
        </p:nvSpPr>
        <p:spPr>
          <a:xfrm>
            <a:off x="9492761" y="5207377"/>
            <a:ext cx="1515207" cy="216877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/>
            <a:r>
              <a:rPr lang="ru-RU" dirty="0"/>
              <a:t>+7 987 654 32 10</a:t>
            </a:r>
          </a:p>
        </p:txBody>
      </p:sp>
      <p:sp>
        <p:nvSpPr>
          <p:cNvPr id="10" name="Объект 2"/>
          <p:cNvSpPr>
            <a:spLocks noGrp="1"/>
          </p:cNvSpPr>
          <p:nvPr>
            <p:ph idx="11" hasCustomPrompt="1"/>
          </p:nvPr>
        </p:nvSpPr>
        <p:spPr>
          <a:xfrm>
            <a:off x="9492761" y="5615618"/>
            <a:ext cx="2039814" cy="24678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/>
            <a:r>
              <a:rPr lang="en-US" dirty="0"/>
              <a:t>info@dozen.mephi.ru</a:t>
            </a:r>
          </a:p>
        </p:txBody>
      </p:sp>
      <p:sp>
        <p:nvSpPr>
          <p:cNvPr id="11" name="Объект 2"/>
          <p:cNvSpPr>
            <a:spLocks noGrp="1"/>
          </p:cNvSpPr>
          <p:nvPr>
            <p:ph idx="12" hasCustomPrompt="1"/>
          </p:nvPr>
        </p:nvSpPr>
        <p:spPr>
          <a:xfrm>
            <a:off x="9492761" y="6018985"/>
            <a:ext cx="1599860" cy="26320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/>
            <a:r>
              <a:rPr lang="en-US" dirty="0"/>
              <a:t>dozen.mephi.ru</a:t>
            </a:r>
          </a:p>
        </p:txBody>
      </p:sp>
      <p:pic>
        <p:nvPicPr>
          <p:cNvPr id="12" name="Рисунок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7093" y="6059208"/>
            <a:ext cx="182758" cy="182758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7093" y="5640427"/>
            <a:ext cx="182758" cy="182758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7093" y="5207377"/>
            <a:ext cx="182758" cy="182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494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702" y="1034207"/>
            <a:ext cx="3289764" cy="794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3417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 baseline="0">
          <a:solidFill>
            <a:schemeClr val="tx1"/>
          </a:solidFill>
          <a:latin typeface="Montserrat" panose="00000500000000000000" pitchFamily="2" charset="-52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9686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ru-RU" b="1" dirty="0">
                <a:latin typeface="Montserrat" panose="00000500000000000000" pitchFamily="2" charset="-52"/>
              </a:rPr>
              <a:t>Титульный</a:t>
            </a:r>
            <a:r>
              <a:rPr lang="ru-RU" b="1" baseline="0" dirty="0">
                <a:latin typeface="Montserrat" panose="00000500000000000000" pitchFamily="2" charset="-52"/>
              </a:rPr>
              <a:t> слайд</a:t>
            </a:r>
            <a:endParaRPr lang="ru-RU" b="1" dirty="0">
              <a:latin typeface="Montserrat" panose="00000500000000000000" pitchFamily="2" charset="-52"/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4490299"/>
            <a:ext cx="7699130" cy="17660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ru-RU" sz="1800" dirty="0">
                <a:latin typeface="Montserrat" panose="00000500000000000000" pitchFamily="2" charset="-52"/>
              </a:rPr>
              <a:t>Разнообразный и богатый опыт начало повседневной работы по формированию позиции позволяет оценить значение новых предложений. С другой стороны укрепление и развитие структуры способствует подготовки и реализации направлений прогрессивного развития.</a:t>
            </a:r>
          </a:p>
        </p:txBody>
      </p:sp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702" y="1034207"/>
            <a:ext cx="3289764" cy="794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0549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2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b="1" kern="1200" baseline="0">
          <a:solidFill>
            <a:schemeClr val="tx1"/>
          </a:solidFill>
          <a:latin typeface="Montserrat" panose="00000500000000000000" pitchFamily="2" charset="-52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 слайда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pic>
        <p:nvPicPr>
          <p:cNvPr id="6" name="Рисунок 5"/>
          <p:cNvPicPr>
            <a:picLocks noChangeAspect="1"/>
          </p:cNvPicPr>
          <p:nvPr userDrawn="1"/>
        </p:nvPicPr>
        <p:blipFill>
          <a:blip r:embed="rId3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5877" y="0"/>
            <a:ext cx="776123" cy="635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9521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 baseline="0">
          <a:solidFill>
            <a:schemeClr val="tx1"/>
          </a:solidFill>
          <a:latin typeface="Montserrat" panose="00000500000000000000" pitchFamily="2" charset="-52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 слайда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pic>
        <p:nvPicPr>
          <p:cNvPr id="4" name="Рисунок 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5877" y="0"/>
            <a:ext cx="776123" cy="635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218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 baseline="0">
          <a:solidFill>
            <a:srgbClr val="0953BA"/>
          </a:solidFill>
          <a:latin typeface="Montserrat" panose="00000500000000000000" pitchFamily="2" charset="-52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 слайда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pic>
        <p:nvPicPr>
          <p:cNvPr id="5" name="Рисунок 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5906" y="5948245"/>
            <a:ext cx="495123" cy="457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364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4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 baseline="0">
          <a:solidFill>
            <a:schemeClr val="tx1"/>
          </a:solidFill>
          <a:latin typeface="Montserrat" panose="00000500000000000000" pitchFamily="2" charset="-52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 слайда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pic>
        <p:nvPicPr>
          <p:cNvPr id="6" name="Рисунок 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30567" y="5903697"/>
            <a:ext cx="585800" cy="546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7186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 baseline="0">
          <a:solidFill>
            <a:srgbClr val="0953BA"/>
          </a:solidFill>
          <a:latin typeface="Montserrat" panose="00000500000000000000" pitchFamily="2" charset="-52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 слайда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pic>
        <p:nvPicPr>
          <p:cNvPr id="4" name="Рисунок 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4603"/>
            <a:ext cx="12192000" cy="6862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43685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 baseline="0">
          <a:solidFill>
            <a:schemeClr val="tx1"/>
          </a:solidFill>
          <a:latin typeface="Montserrat" panose="00000500000000000000" pitchFamily="2" charset="-52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 слайда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pic>
        <p:nvPicPr>
          <p:cNvPr id="4" name="Рисунок 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3559"/>
            <a:ext cx="12192000" cy="6861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6571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 baseline="0">
          <a:solidFill>
            <a:srgbClr val="0953BA"/>
          </a:solidFill>
          <a:latin typeface="Montserrat" panose="00000500000000000000" pitchFamily="2" charset="-52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 слайда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53246056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4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 baseline="0">
          <a:solidFill>
            <a:schemeClr val="tx1"/>
          </a:solidFill>
          <a:latin typeface="Montserrat" panose="00000500000000000000" pitchFamily="2" charset="-52"/>
          <a:ea typeface="+mj-ea"/>
          <a:cs typeface="+mj-cs"/>
        </a:defRPr>
      </a:lvl1pPr>
    </p:titleStyle>
    <p:bodyStyle>
      <a:lvl1pPr marL="457200" indent="-457200" algn="l" defTabSz="914400" rtl="0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 слайда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31535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 baseline="0">
          <a:solidFill>
            <a:srgbClr val="0953BA"/>
          </a:solidFill>
          <a:latin typeface="Montserrat" panose="00000500000000000000" pitchFamily="2" charset="-52"/>
          <a:ea typeface="+mj-ea"/>
          <a:cs typeface="+mj-cs"/>
        </a:defRPr>
      </a:lvl1pPr>
    </p:titleStyle>
    <p:bodyStyle>
      <a:lvl1pPr marL="457200" indent="-457200" algn="l" defTabSz="914400" rtl="0" eaLnBrk="1" latinLnBrk="0" hangingPunct="1">
        <a:lnSpc>
          <a:spcPct val="90000"/>
        </a:lnSpc>
        <a:spcBef>
          <a:spcPts val="1000"/>
        </a:spcBef>
        <a:buClr>
          <a:srgbClr val="0953BA"/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 слайда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283953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 baseline="0">
          <a:solidFill>
            <a:srgbClr val="0953BA"/>
          </a:solidFill>
          <a:latin typeface="Montserrat" panose="00000500000000000000" pitchFamily="2" charset="-52"/>
          <a:ea typeface="+mj-ea"/>
          <a:cs typeface="+mj-cs"/>
        </a:defRPr>
      </a:lvl1pPr>
    </p:titleStyle>
    <p:bodyStyle>
      <a:lvl1pPr marL="457200" indent="-457200" algn="l" defTabSz="914400" rtl="0" eaLnBrk="1" latinLnBrk="0" hangingPunct="1">
        <a:lnSpc>
          <a:spcPct val="90000"/>
        </a:lnSpc>
        <a:spcBef>
          <a:spcPts val="1000"/>
        </a:spcBef>
        <a:buClr>
          <a:srgbClr val="0953BA"/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ontserrat" panose="000005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E9B6A-0E78-C8A4-0306-390E1321B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B42C30-78A9-D425-D000-DCD3CD611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Montserrat"/>
              </a:rPr>
              <a:t>План действий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4A9556-7E83-F441-AF39-9954CF456D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598" y="1687914"/>
            <a:ext cx="5272314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ru-RU" sz="1800" dirty="0">
                <a:latin typeface="Montserrat"/>
              </a:rPr>
              <a:t>1. Разведка.</a:t>
            </a:r>
            <a:endParaRPr lang="ru-RU" sz="2300" dirty="0">
              <a:latin typeface="Montserrat"/>
            </a:endParaRPr>
          </a:p>
          <a:p>
            <a:pPr>
              <a:lnSpc>
                <a:spcPct val="150000"/>
              </a:lnSpc>
            </a:pPr>
            <a:r>
              <a:rPr lang="ru-RU" sz="1800" dirty="0">
                <a:latin typeface="Montserrat"/>
              </a:rPr>
              <a:t>2. Парсинг данных из разных источников в формат </a:t>
            </a:r>
            <a:r>
              <a:rPr lang="ru-RU" sz="1800" dirty="0" err="1">
                <a:latin typeface="Montserrat"/>
              </a:rPr>
              <a:t>csv</a:t>
            </a:r>
            <a:r>
              <a:rPr lang="ru-RU" sz="1800" dirty="0">
                <a:latin typeface="Montserrat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ru-RU" sz="1800" dirty="0">
                <a:latin typeface="Montserrat"/>
              </a:rPr>
              <a:t>3.  Слияние данных.</a:t>
            </a:r>
          </a:p>
          <a:p>
            <a:pPr>
              <a:lnSpc>
                <a:spcPct val="150000"/>
              </a:lnSpc>
            </a:pPr>
            <a:r>
              <a:rPr lang="ru-RU" sz="1800" dirty="0">
                <a:latin typeface="Montserrat"/>
              </a:rPr>
              <a:t>4. Составление гипотез для проверки на шпиона.</a:t>
            </a:r>
          </a:p>
          <a:p>
            <a:pPr>
              <a:lnSpc>
                <a:spcPct val="150000"/>
              </a:lnSpc>
            </a:pPr>
            <a:r>
              <a:rPr lang="ru-RU" sz="1800" dirty="0">
                <a:latin typeface="Montserrat"/>
              </a:rPr>
              <a:t>5. Анализ полученного датасета с применением гипотез и выявление шпионов.</a:t>
            </a:r>
            <a:endParaRPr lang="ru-RU" sz="1800"/>
          </a:p>
          <a:p>
            <a:pPr>
              <a:lnSpc>
                <a:spcPct val="150000"/>
              </a:lnSpc>
            </a:pPr>
            <a:endParaRPr lang="ru-RU" sz="1800" dirty="0">
              <a:latin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2163376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0AE6C-14EA-265B-5671-151D6AE93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5706E0-AF69-8C28-8840-BA1F2C5CD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Montserrat"/>
              </a:rPr>
              <a:t>Разведка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9E07FE5-6C25-0FB1-DA22-9560003B54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598" y="1715456"/>
            <a:ext cx="7402241" cy="432379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ru-RU" sz="1800" dirty="0">
                <a:latin typeface="Montserrat"/>
              </a:rPr>
              <a:t>На этапе разведки нам необходимо выбрать файлы с данными, которые будут необходимы для выявления шпионов.</a:t>
            </a:r>
          </a:p>
        </p:txBody>
      </p:sp>
    </p:spTree>
    <p:extLst>
      <p:ext uri="{BB962C8B-B14F-4D97-AF65-F5344CB8AC3E}">
        <p14:creationId xmlns:p14="http://schemas.microsoft.com/office/powerpoint/2010/main" val="27134683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7C034-3B6E-EFD4-7919-F5C409067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204DAA-57D0-2D56-A612-419F012BE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Montserrat"/>
              </a:rPr>
              <a:t>Слитый </a:t>
            </a:r>
            <a:r>
              <a:rPr lang="ru-RU" dirty="0" err="1">
                <a:latin typeface="Montserrat"/>
              </a:rPr>
              <a:t>json</a:t>
            </a:r>
            <a:r>
              <a:rPr lang="ru-RU" dirty="0">
                <a:latin typeface="Montserrat"/>
              </a:rPr>
              <a:t> и </a:t>
            </a:r>
            <a:r>
              <a:rPr lang="ru-RU" dirty="0" err="1">
                <a:latin typeface="Montserrat"/>
              </a:rPr>
              <a:t>xml</a:t>
            </a:r>
            <a:endParaRPr lang="ru-RU" dirty="0" err="1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230E1D-3A13-C2BC-5F85-6AF63DDA82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598" y="1687914"/>
            <a:ext cx="5272314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</a:pPr>
            <a:endParaRPr lang="ru-RU" sz="1800" dirty="0"/>
          </a:p>
          <a:p>
            <a:pPr>
              <a:lnSpc>
                <a:spcPct val="150000"/>
              </a:lnSpc>
            </a:pPr>
            <a:endParaRPr lang="ru-RU" sz="1800" dirty="0">
              <a:latin typeface="Montserrat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20AE5E2-301C-24FA-5486-46398E0EA1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699" y="1398452"/>
            <a:ext cx="10530290" cy="4786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63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FD219-04CC-F68B-58D5-0332D2068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CD8D46-DE07-2908-3199-2CBF087C6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96045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Montserrat"/>
              </a:rPr>
              <a:t>Слитый </a:t>
            </a:r>
            <a:r>
              <a:rPr lang="ru-RU" dirty="0" err="1">
                <a:latin typeface="Montserrat"/>
              </a:rPr>
              <a:t>json</a:t>
            </a:r>
            <a:r>
              <a:rPr lang="ru-RU" dirty="0">
                <a:latin typeface="Montserrat"/>
              </a:rPr>
              <a:t> и </a:t>
            </a:r>
            <a:r>
              <a:rPr lang="ru-RU" dirty="0" err="1">
                <a:latin typeface="Montserrat"/>
              </a:rPr>
              <a:t>xml</a:t>
            </a:r>
            <a:r>
              <a:rPr lang="ru-RU" dirty="0">
                <a:latin typeface="Montserrat"/>
              </a:rPr>
              <a:t> и архив с документами</a:t>
            </a:r>
            <a:endParaRPr lang="ru-RU" dirty="0" err="1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A90B6EE-BBB6-60D0-E992-9C767E5CD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598" y="1687914"/>
            <a:ext cx="5272314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</a:pPr>
            <a:endParaRPr lang="ru-RU" sz="1800" dirty="0"/>
          </a:p>
          <a:p>
            <a:pPr>
              <a:lnSpc>
                <a:spcPct val="150000"/>
              </a:lnSpc>
            </a:pPr>
            <a:endParaRPr lang="ru-RU" sz="1800" dirty="0">
              <a:latin typeface="Montserrat"/>
            </a:endParaRPr>
          </a:p>
        </p:txBody>
      </p:sp>
      <p:pic>
        <p:nvPicPr>
          <p:cNvPr id="5" name="Рисунок 4" descr="Изображение выглядит как текст, снимок экрана, шаблон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2A0BF4B-28CA-E947-9E88-9BBEE910B4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71944"/>
            <a:ext cx="10796531" cy="4595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878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3DB05-F007-DF8A-356E-AF0E53CB9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399CE8-424F-70B7-96AB-F50FE9A78E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1510"/>
            <a:ext cx="10515600" cy="857347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Montserrat"/>
              </a:rPr>
              <a:t>Слитый </a:t>
            </a:r>
            <a:r>
              <a:rPr lang="ru-RU" dirty="0" err="1">
                <a:latin typeface="Montserrat"/>
              </a:rPr>
              <a:t>json</a:t>
            </a:r>
            <a:r>
              <a:rPr lang="ru-RU" dirty="0">
                <a:latin typeface="Montserrat"/>
              </a:rPr>
              <a:t> и </a:t>
            </a:r>
            <a:r>
              <a:rPr lang="ru-RU" dirty="0" err="1">
                <a:latin typeface="Montserrat"/>
              </a:rPr>
              <a:t>xml</a:t>
            </a:r>
            <a:r>
              <a:rPr lang="ru-RU" dirty="0">
                <a:latin typeface="Montserrat"/>
              </a:rPr>
              <a:t> и архив с документами</a:t>
            </a:r>
            <a:endParaRPr lang="ru-RU" dirty="0" err="1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055B718-6FB3-5FA6-E07E-518D9884A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598" y="1687914"/>
            <a:ext cx="5272314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</a:pPr>
            <a:endParaRPr lang="ru-RU" sz="1800" dirty="0"/>
          </a:p>
          <a:p>
            <a:pPr>
              <a:lnSpc>
                <a:spcPct val="150000"/>
              </a:lnSpc>
            </a:pPr>
            <a:endParaRPr lang="ru-RU" sz="1800" dirty="0">
              <a:latin typeface="Montserrat"/>
            </a:endParaRPr>
          </a:p>
        </p:txBody>
      </p:sp>
      <p:pic>
        <p:nvPicPr>
          <p:cNvPr id="4" name="Рисунок 3" descr="Изображение выглядит как текст, снимок экрана, шабло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CA6EF32-0492-35D7-D5BE-12E6BF339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030" y="1202675"/>
            <a:ext cx="6580353" cy="5324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83697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E421F-C6C9-BDD1-D3C9-7AD9331E1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606F89-9A80-3B41-F6E4-9FAADCE8E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1510"/>
            <a:ext cx="10515600" cy="857347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Montserrat"/>
              </a:rPr>
              <a:t>Слитый </a:t>
            </a:r>
            <a:r>
              <a:rPr lang="ru-RU" dirty="0" err="1">
                <a:latin typeface="Montserrat"/>
              </a:rPr>
              <a:t>json</a:t>
            </a:r>
            <a:r>
              <a:rPr lang="ru-RU" dirty="0">
                <a:latin typeface="Montserrat"/>
              </a:rPr>
              <a:t> и </a:t>
            </a:r>
            <a:r>
              <a:rPr lang="ru-RU" dirty="0" err="1">
                <a:latin typeface="Montserrat"/>
              </a:rPr>
              <a:t>xml</a:t>
            </a:r>
            <a:r>
              <a:rPr lang="ru-RU" dirty="0">
                <a:latin typeface="Montserrat"/>
              </a:rPr>
              <a:t> и архив с документами</a:t>
            </a:r>
            <a:endParaRPr lang="ru-RU" dirty="0" err="1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380A21D-37C8-DA50-222A-39AEED3AA2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598" y="1687914"/>
            <a:ext cx="5272314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</a:pPr>
            <a:endParaRPr lang="ru-RU" sz="1800" dirty="0"/>
          </a:p>
          <a:p>
            <a:pPr>
              <a:lnSpc>
                <a:spcPct val="150000"/>
              </a:lnSpc>
            </a:pPr>
            <a:endParaRPr lang="ru-RU" sz="1800" dirty="0">
              <a:latin typeface="Montserrat"/>
            </a:endParaRPr>
          </a:p>
        </p:txBody>
      </p:sp>
      <p:pic>
        <p:nvPicPr>
          <p:cNvPr id="5" name="Рисунок 4" descr="Изображение выглядит как текст, снимок экрана, документ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9DC2455-EA0C-F9CF-6364-CA3F1FAADD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765" y="1184314"/>
            <a:ext cx="6919628" cy="554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8790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8712A-235C-9465-51F1-50EDE9F7D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A80CEF-40EA-802A-5422-6CBC99E858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361589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Montserrat"/>
              </a:rPr>
              <a:t>Слитый </a:t>
            </a:r>
            <a:r>
              <a:rPr lang="ru-RU" dirty="0" err="1">
                <a:latin typeface="Montserrat"/>
              </a:rPr>
              <a:t>json</a:t>
            </a:r>
            <a:r>
              <a:rPr lang="ru-RU" dirty="0">
                <a:latin typeface="Montserrat"/>
              </a:rPr>
              <a:t> и </a:t>
            </a:r>
            <a:r>
              <a:rPr lang="ru-RU" dirty="0" err="1">
                <a:latin typeface="Montserrat"/>
              </a:rPr>
              <a:t>xml</a:t>
            </a:r>
            <a:r>
              <a:rPr lang="ru-RU" dirty="0">
                <a:latin typeface="Montserrat"/>
              </a:rPr>
              <a:t> и архив с документами и </a:t>
            </a:r>
            <a:r>
              <a:rPr lang="ru-RU" dirty="0" err="1">
                <a:latin typeface="Montserrat"/>
              </a:rPr>
              <a:t>yaml</a:t>
            </a:r>
            <a:endParaRPr lang="ru-RU" dirty="0" err="1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524ED22-2E3D-BC58-C3B9-DB87A41D2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598" y="1687914"/>
            <a:ext cx="5272314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</a:pPr>
            <a:endParaRPr lang="ru-RU" sz="1800" dirty="0"/>
          </a:p>
          <a:p>
            <a:pPr>
              <a:lnSpc>
                <a:spcPct val="150000"/>
              </a:lnSpc>
            </a:pPr>
            <a:endParaRPr lang="ru-RU" sz="1800" dirty="0">
              <a:latin typeface="Montserrat"/>
            </a:endParaRPr>
          </a:p>
        </p:txBody>
      </p:sp>
      <p:pic>
        <p:nvPicPr>
          <p:cNvPr id="6" name="Рисунок 5" descr="Изображение выглядит как текст, снимок экрана, число, Параллельн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719A30B-BB81-5FF2-4A54-C7A75A261A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69" y="1168474"/>
            <a:ext cx="10842434" cy="5126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0779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181BF-2C0E-6988-138C-88286E644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96178E-1926-5B4A-A5FB-1C86B7B30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Montserrat"/>
              </a:rPr>
              <a:t>Гипотезы: посетители важных международных мероприятий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C851916-16B6-452A-354F-6815EE9D6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598" y="1715456"/>
            <a:ext cx="9963663" cy="432379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ru-RU" sz="1800" dirty="0">
                <a:latin typeface="Montserrat"/>
                <a:ea typeface="Roboto"/>
                <a:cs typeface="Roboto"/>
              </a:rPr>
              <a:t> Человек, прилетающий в город/страну, в которой скоро произойдет событие государственной важности, например, военные испытания, саммит глав стран и </a:t>
            </a:r>
            <a:r>
              <a:rPr lang="ru-RU" sz="1800" dirty="0" err="1">
                <a:latin typeface="Montserrat"/>
                <a:ea typeface="Roboto"/>
                <a:cs typeface="Roboto"/>
              </a:rPr>
              <a:t>тд</a:t>
            </a:r>
            <a:r>
              <a:rPr lang="ru-RU" sz="1800" dirty="0">
                <a:latin typeface="Montserrat"/>
                <a:ea typeface="Roboto"/>
                <a:cs typeface="Roboto"/>
              </a:rPr>
              <a:t>.</a:t>
            </a:r>
            <a:endParaRPr lang="ru-RU"/>
          </a:p>
          <a:p>
            <a:pPr>
              <a:lnSpc>
                <a:spcPct val="150000"/>
              </a:lnSpc>
            </a:pPr>
            <a:r>
              <a:rPr lang="ru-RU" sz="1800" dirty="0">
                <a:latin typeface="Montserrat"/>
                <a:ea typeface="Roboto"/>
                <a:cs typeface="Roboto"/>
              </a:rPr>
              <a:t> Была составлена таблица с городами и датами событий, которые в них произойдут. На основе нее были выбраны люди, летавшие туда в определённый промежуток времени.</a:t>
            </a:r>
          </a:p>
        </p:txBody>
      </p:sp>
    </p:spTree>
    <p:extLst>
      <p:ext uri="{BB962C8B-B14F-4D97-AF65-F5344CB8AC3E}">
        <p14:creationId xmlns:p14="http://schemas.microsoft.com/office/powerpoint/2010/main" val="1203756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77B37-8FB2-B4A3-4064-AD7D45C36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8B9B81-78B3-A29D-3634-1903657B4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Montserrat"/>
              </a:rPr>
              <a:t>Гипотезы: отсутствие домашних аэропортов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0A2E581-B450-8D2E-A3EE-1E9358D9F4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598" y="1715456"/>
            <a:ext cx="9963663" cy="432379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ru-RU" sz="1800" dirty="0">
                <a:latin typeface="Montserrat"/>
                <a:ea typeface="Roboto"/>
                <a:cs typeface="Roboto"/>
              </a:rPr>
              <a:t>  У обычного человека, как правило, есть один-два домашних аэропорта, из которых он чаще всего вылетает и прилетает. У шпиона, скорее всего, такого аэропорта быть не может.</a:t>
            </a:r>
          </a:p>
          <a:p>
            <a:pPr>
              <a:lnSpc>
                <a:spcPct val="150000"/>
              </a:lnSpc>
            </a:pPr>
            <a:r>
              <a:rPr lang="ru-RU" sz="1800" dirty="0">
                <a:latin typeface="Montserrat"/>
                <a:ea typeface="Roboto"/>
                <a:cs typeface="Roboto"/>
              </a:rPr>
              <a:t> На основе этой гипотез были выбраны люди, у которых не было домашнего аэропорта.</a:t>
            </a:r>
            <a:endParaRPr lang="ru-RU" sz="1800" dirty="0">
              <a:ea typeface="Roboto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8832387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3732D-FB8F-26BB-52FD-036720C6F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90700C-7233-5B06-DA51-FA85942C7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Montserrat"/>
              </a:rPr>
              <a:t>Гипотезы: много высоких статусов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936391-1C55-1F58-61C2-E073BB8DF2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598" y="1715456"/>
            <a:ext cx="9963663" cy="432379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ru-RU" sz="1800" dirty="0">
                <a:latin typeface="Montserrat"/>
                <a:ea typeface="Roboto"/>
                <a:cs typeface="Roboto"/>
              </a:rPr>
              <a:t>  Один пассажир имеет высокий статус (Elite, Elite+) одновременно в нескольких конкурирующих альянсах (SU, DT, KE). Это дорого и бессмысленно для обычного человека. А шпион может использовать такие привилегии для дешевого приобретения билетов.</a:t>
            </a:r>
          </a:p>
          <a:p>
            <a:pPr>
              <a:lnSpc>
                <a:spcPct val="150000"/>
              </a:lnSpc>
            </a:pPr>
            <a:r>
              <a:rPr lang="ru-RU" sz="1800" dirty="0">
                <a:latin typeface="Montserrat"/>
                <a:ea typeface="Roboto"/>
                <a:cs typeface="Roboto"/>
              </a:rPr>
              <a:t> На основе этой гипотез были выбраны люди, у которых было больше или равно трех подписок класса Elite и выше.</a:t>
            </a:r>
          </a:p>
          <a:p>
            <a:pPr>
              <a:lnSpc>
                <a:spcPct val="150000"/>
              </a:lnSpc>
            </a:pPr>
            <a:endParaRPr lang="ru-RU" sz="1800" dirty="0">
              <a:latin typeface="Montserrat"/>
              <a:ea typeface="Roboto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5045334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A842C-5A0E-BEEE-ABDC-4DAC0EB40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2475B4-6AF0-34B9-29C7-4965C6512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Montserrat"/>
              </a:rPr>
              <a:t>Гипотезы: слишком много высоких статусов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0A805FB-3F99-6B1E-CE78-9F96953D62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598" y="1715456"/>
            <a:ext cx="9963663" cy="432379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ru-RU" sz="1800" dirty="0">
                <a:latin typeface="Montserrat"/>
                <a:ea typeface="Roboto"/>
                <a:cs typeface="Roboto"/>
              </a:rPr>
              <a:t> Зачем обычному гражданину часто покупать билеты на иностранных площадках? Поэтому смотрим, кто покупает билеты на иностранных агрегаторах билетов: </a:t>
            </a:r>
            <a:r>
              <a:rPr lang="ru-RU" sz="1800" dirty="0" err="1">
                <a:latin typeface="Montserrat"/>
                <a:ea typeface="Roboto"/>
                <a:cs typeface="Roboto"/>
              </a:rPr>
              <a:t>AgentInfo</a:t>
            </a:r>
            <a:r>
              <a:rPr lang="ru-RU" sz="1800" dirty="0">
                <a:latin typeface="Montserrat"/>
                <a:ea typeface="Roboto"/>
                <a:cs typeface="Roboto"/>
              </a:rPr>
              <a:t>, Kiwi.com, </a:t>
            </a:r>
            <a:r>
              <a:rPr lang="ru-RU" sz="1800" dirty="0" err="1">
                <a:latin typeface="Montserrat"/>
                <a:ea typeface="Roboto"/>
                <a:cs typeface="Roboto"/>
              </a:rPr>
              <a:t>Travelgenio</a:t>
            </a:r>
            <a:r>
              <a:rPr lang="ru-RU" sz="1800" dirty="0">
                <a:latin typeface="Montserrat"/>
                <a:ea typeface="Roboto"/>
                <a:cs typeface="Roboto"/>
              </a:rPr>
              <a:t>, </a:t>
            </a:r>
            <a:r>
              <a:rPr lang="ru-RU" sz="1800" dirty="0" err="1">
                <a:latin typeface="Montserrat"/>
                <a:ea typeface="Roboto"/>
                <a:cs typeface="Roboto"/>
              </a:rPr>
              <a:t>eDreams</a:t>
            </a:r>
            <a:r>
              <a:rPr lang="ru-RU" sz="1800" dirty="0">
                <a:latin typeface="Montserrat"/>
                <a:ea typeface="Roboto"/>
                <a:cs typeface="Roboto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ru-RU" sz="1800" dirty="0">
                <a:latin typeface="Montserrat"/>
                <a:ea typeface="Roboto"/>
                <a:cs typeface="Roboto"/>
              </a:rPr>
              <a:t> На основе этой гипотез были выбраны люди, которые чаще всего покупали билеты на иностранных площадках.</a:t>
            </a:r>
          </a:p>
          <a:p>
            <a:pPr>
              <a:lnSpc>
                <a:spcPct val="150000"/>
              </a:lnSpc>
            </a:pPr>
            <a:endParaRPr lang="ru-RU" sz="1800" dirty="0">
              <a:latin typeface="Montserrat"/>
              <a:ea typeface="Roboto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1306923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6EE09-AB01-FA9F-2C7D-FD7F96B9B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B0A054-B44F-1D21-6D47-F0FC52306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Montserrat"/>
              </a:rPr>
              <a:t>Гипотезы: люди используют одинаковый</a:t>
            </a:r>
            <a:r>
              <a:rPr lang="ru-RU" sz="1800" b="0" dirty="0">
                <a:solidFill>
                  <a:srgbClr val="000000"/>
                </a:solidFill>
                <a:latin typeface="Montserrat"/>
              </a:rPr>
              <a:t> </a:t>
            </a:r>
            <a:r>
              <a:rPr lang="ru-RU" dirty="0">
                <a:latin typeface="Montserrat"/>
              </a:rPr>
              <a:t>документ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44DED26-D055-6AF8-CA0F-1AE6F1F85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598" y="1715456"/>
            <a:ext cx="9963663" cy="432379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ru-RU" sz="1800" dirty="0">
                <a:latin typeface="Montserrat"/>
                <a:ea typeface="Roboto"/>
                <a:cs typeface="Roboto"/>
              </a:rPr>
              <a:t> Несколько человек летает с одним документом, такое возможно только если кто-то из них шпион.</a:t>
            </a:r>
          </a:p>
          <a:p>
            <a:pPr>
              <a:lnSpc>
                <a:spcPct val="150000"/>
              </a:lnSpc>
            </a:pPr>
            <a:r>
              <a:rPr lang="ru-RU" sz="1800" dirty="0">
                <a:latin typeface="Montserrat"/>
                <a:ea typeface="Roboto"/>
                <a:cs typeface="Roboto"/>
              </a:rPr>
              <a:t> На основе этой гипотез были выбраны люди, которые летали по одному (одинаковому) документу.</a:t>
            </a:r>
          </a:p>
          <a:p>
            <a:pPr>
              <a:lnSpc>
                <a:spcPct val="150000"/>
              </a:lnSpc>
            </a:pPr>
            <a:endParaRPr lang="ru-RU" sz="1800" dirty="0">
              <a:latin typeface="Montserrat"/>
              <a:ea typeface="Roboto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3218386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76642-0F9A-BE82-E928-74671CDCE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145709-A2A8-5DC1-2C7F-C73783C9E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Montserrat"/>
              </a:rPr>
              <a:t>Гипотезы: челночные полеты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83ACBAB-ED23-2B65-0068-B4FAAAEB23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598" y="1715456"/>
            <a:ext cx="9963663" cy="432379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ru-RU" sz="1800" dirty="0">
                <a:latin typeface="Montserrat"/>
                <a:ea typeface="Roboto"/>
                <a:cs typeface="Roboto"/>
              </a:rPr>
              <a:t> Частые полеты А-&gt;B-&gt;A в короткие сроки (повторяющиеся "челночные" полеты в короткие сроки между одними и теми же двумя странами =&gt; подозрительно)</a:t>
            </a:r>
          </a:p>
          <a:p>
            <a:r>
              <a:rPr lang="ru-RU" sz="1800" dirty="0">
                <a:latin typeface="Montserrat"/>
                <a:ea typeface="Roboto"/>
                <a:cs typeface="Roboto"/>
              </a:rPr>
              <a:t> На основе этой гипотез были выбраны люди, которые часто совершали "челночные полеты".</a:t>
            </a:r>
          </a:p>
          <a:p>
            <a:pPr>
              <a:lnSpc>
                <a:spcPct val="150000"/>
              </a:lnSpc>
            </a:pPr>
            <a:endParaRPr lang="ru-RU" sz="1800" dirty="0">
              <a:latin typeface="Montserrat"/>
              <a:ea typeface="Roboto"/>
              <a:cs typeface="Roboto"/>
            </a:endParaRPr>
          </a:p>
          <a:p>
            <a:pPr>
              <a:lnSpc>
                <a:spcPct val="150000"/>
              </a:lnSpc>
            </a:pPr>
            <a:endParaRPr lang="ru-RU" sz="1800" dirty="0">
              <a:latin typeface="Montserrat"/>
              <a:ea typeface="Roboto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8683348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751E0-5752-5877-B55E-A31F2559B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E38504-A478-E5FD-231C-A05572671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152" y="392667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Montserrat"/>
              </a:rPr>
              <a:t>Результат проверки гипотезы "слишком много высоких статусов"</a:t>
            </a:r>
            <a:endParaRPr lang="ru-RU" b="0" dirty="0">
              <a:solidFill>
                <a:srgbClr val="000000"/>
              </a:solidFill>
              <a:latin typeface="Montserrat"/>
            </a:endParaRPr>
          </a:p>
          <a:p>
            <a:endParaRPr lang="ru-RU" dirty="0">
              <a:latin typeface="Montserrat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A44F116-F502-B92D-66A6-3BF6938D0B6F}"/>
              </a:ext>
            </a:extLst>
          </p:cNvPr>
          <p:cNvSpPr>
            <a:spLocks noGrp="1"/>
          </p:cNvSpPr>
          <p:nvPr>
            <p:ph idx="1"/>
          </p:nvPr>
        </p:nvSpPr>
        <p:spPr>
          <a:xfrm flipV="1">
            <a:off x="553598" y="1219373"/>
            <a:ext cx="9963663" cy="496083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>
              <a:lnSpc>
                <a:spcPct val="150000"/>
              </a:lnSpc>
            </a:pPr>
            <a:endParaRPr lang="ru-RU" sz="1800" dirty="0">
              <a:latin typeface="Montserrat"/>
              <a:ea typeface="Roboto"/>
              <a:cs typeface="Roboto"/>
            </a:endParaRPr>
          </a:p>
          <a:p>
            <a:pPr>
              <a:lnSpc>
                <a:spcPct val="150000"/>
              </a:lnSpc>
            </a:pPr>
            <a:endParaRPr lang="ru-RU" sz="1800" dirty="0">
              <a:latin typeface="Montserrat"/>
              <a:ea typeface="Roboto"/>
              <a:cs typeface="Roboto"/>
            </a:endParaRPr>
          </a:p>
        </p:txBody>
      </p:sp>
      <p:pic>
        <p:nvPicPr>
          <p:cNvPr id="4" name="Рисунок 3" descr="Изображение выглядит как текст, снимок экрана, диаграмма, Граф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A10917E-DFF3-1FD2-D13E-8224DBCDB4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1274" y="1464096"/>
            <a:ext cx="7636296" cy="4756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0997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6578D-729D-97A8-4F16-5E1504954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9E2B67-4D3D-D94E-84D9-D0D013559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152" y="392667"/>
            <a:ext cx="10515600" cy="829804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Montserrat"/>
              </a:rPr>
              <a:t>Результат проверки гипотезы "</a:t>
            </a:r>
            <a:r>
              <a:rPr lang="ru-RU" sz="4900" dirty="0">
                <a:latin typeface="Montserrat"/>
              </a:rPr>
              <a:t>челночные полеты</a:t>
            </a:r>
            <a:r>
              <a:rPr lang="ru-RU" dirty="0">
                <a:latin typeface="Montserrat"/>
              </a:rPr>
              <a:t>"</a:t>
            </a:r>
            <a:endParaRPr lang="ru-RU" b="0" dirty="0">
              <a:solidFill>
                <a:srgbClr val="000000"/>
              </a:solidFill>
              <a:latin typeface="Montserrat"/>
            </a:endParaRPr>
          </a:p>
          <a:p>
            <a:endParaRPr lang="ru-RU" dirty="0">
              <a:latin typeface="Montserrat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2E1320F-BA6E-9B5C-9FA2-10C27EBEE9C5}"/>
              </a:ext>
            </a:extLst>
          </p:cNvPr>
          <p:cNvSpPr>
            <a:spLocks noGrp="1"/>
          </p:cNvSpPr>
          <p:nvPr>
            <p:ph idx="1"/>
          </p:nvPr>
        </p:nvSpPr>
        <p:spPr>
          <a:xfrm flipV="1">
            <a:off x="553598" y="1219373"/>
            <a:ext cx="9963663" cy="496083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>
              <a:lnSpc>
                <a:spcPct val="150000"/>
              </a:lnSpc>
            </a:pPr>
            <a:endParaRPr lang="ru-RU" sz="1800" dirty="0">
              <a:latin typeface="Montserrat"/>
              <a:ea typeface="Roboto"/>
              <a:cs typeface="Roboto"/>
            </a:endParaRPr>
          </a:p>
          <a:p>
            <a:pPr>
              <a:lnSpc>
                <a:spcPct val="150000"/>
              </a:lnSpc>
            </a:pPr>
            <a:endParaRPr lang="ru-RU" sz="1800" dirty="0">
              <a:latin typeface="Montserrat"/>
              <a:ea typeface="Roboto"/>
              <a:cs typeface="Roboto"/>
            </a:endParaRPr>
          </a:p>
        </p:txBody>
      </p:sp>
      <p:pic>
        <p:nvPicPr>
          <p:cNvPr id="5" name="Рисунок 4" descr="Изображение выглядит как текст, снимок экрана, диаграмма, Граф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246215D-06BC-577E-3DB3-7877C22AD0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639" y="1211856"/>
            <a:ext cx="9440627" cy="5646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8738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84A23-D10A-0EAE-9CBF-6E396461A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012B38-4521-F18F-4A9B-8F9DAFC95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latin typeface="Montserrat"/>
              </a:rPr>
              <a:t>Результаты проверки гипотезы "</a:t>
            </a:r>
            <a:r>
              <a:rPr lang="ru-RU" sz="4900" dirty="0">
                <a:latin typeface="Montserrat"/>
              </a:rPr>
              <a:t>отсутствие домашних аэропортов</a:t>
            </a:r>
            <a:r>
              <a:rPr lang="ru-RU" dirty="0">
                <a:latin typeface="Montserrat"/>
              </a:rPr>
              <a:t>"</a:t>
            </a:r>
            <a:endParaRPr lang="ru-RU" b="0" dirty="0">
              <a:solidFill>
                <a:srgbClr val="000000"/>
              </a:solidFill>
              <a:latin typeface="Montserrat"/>
            </a:endParaRPr>
          </a:p>
          <a:p>
            <a:endParaRPr lang="ru-RU" dirty="0">
              <a:latin typeface="Montserrat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5829AD5-D254-1BF2-FC5A-BE87B17C61D8}"/>
              </a:ext>
            </a:extLst>
          </p:cNvPr>
          <p:cNvSpPr>
            <a:spLocks noGrp="1"/>
          </p:cNvSpPr>
          <p:nvPr>
            <p:ph idx="1"/>
          </p:nvPr>
        </p:nvSpPr>
        <p:spPr>
          <a:xfrm flipV="1">
            <a:off x="553598" y="1219373"/>
            <a:ext cx="9963663" cy="496083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>
              <a:lnSpc>
                <a:spcPct val="150000"/>
              </a:lnSpc>
            </a:pPr>
            <a:endParaRPr lang="ru-RU" sz="1800" dirty="0">
              <a:latin typeface="Montserrat"/>
              <a:ea typeface="Roboto"/>
              <a:cs typeface="Roboto"/>
            </a:endParaRPr>
          </a:p>
          <a:p>
            <a:pPr>
              <a:lnSpc>
                <a:spcPct val="150000"/>
              </a:lnSpc>
            </a:pPr>
            <a:endParaRPr lang="ru-RU" sz="1800" dirty="0">
              <a:latin typeface="Montserrat"/>
              <a:ea typeface="Roboto"/>
              <a:cs typeface="Roboto"/>
            </a:endParaRPr>
          </a:p>
        </p:txBody>
      </p:sp>
      <p:pic>
        <p:nvPicPr>
          <p:cNvPr id="5" name="Рисунок 4" descr="Изображение выглядит как текст, снимок экрана, линия, Граф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755763F-594C-4462-3D10-5B840B5C75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743" y="1367928"/>
            <a:ext cx="7913214" cy="5269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486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CF313-36BE-0709-2D0D-44EF513D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5DB078-141E-2139-3312-F81ED415F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latin typeface="Montserrat"/>
              </a:rPr>
              <a:t>Результаты проверки гипотезы "отсутствие домашних аэропортов"</a:t>
            </a:r>
          </a:p>
          <a:p>
            <a:endParaRPr lang="ru-RU" dirty="0">
              <a:latin typeface="Montserrat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94C741-5DCE-6B09-B486-3D34FFFAEB3D}"/>
              </a:ext>
            </a:extLst>
          </p:cNvPr>
          <p:cNvSpPr>
            <a:spLocks noGrp="1"/>
          </p:cNvSpPr>
          <p:nvPr>
            <p:ph idx="1"/>
          </p:nvPr>
        </p:nvSpPr>
        <p:spPr>
          <a:xfrm flipV="1">
            <a:off x="553598" y="1219373"/>
            <a:ext cx="9963663" cy="496083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>
              <a:lnSpc>
                <a:spcPct val="150000"/>
              </a:lnSpc>
            </a:pPr>
            <a:endParaRPr lang="ru-RU" sz="1800" dirty="0">
              <a:latin typeface="Montserrat"/>
              <a:ea typeface="Roboto"/>
              <a:cs typeface="Roboto"/>
            </a:endParaRPr>
          </a:p>
          <a:p>
            <a:pPr>
              <a:lnSpc>
                <a:spcPct val="150000"/>
              </a:lnSpc>
            </a:pPr>
            <a:endParaRPr lang="ru-RU" sz="1800" dirty="0">
              <a:latin typeface="Montserrat"/>
              <a:ea typeface="Roboto"/>
              <a:cs typeface="Roboto"/>
            </a:endParaRPr>
          </a:p>
        </p:txBody>
      </p:sp>
      <p:pic>
        <p:nvPicPr>
          <p:cNvPr id="4" name="Рисунок 3" descr="Изображение выглядит как текст, снимок экрана, диаграмма, Граф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52A658A-45E9-8B65-698A-9E405AE5E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24" y="1680073"/>
            <a:ext cx="5608851" cy="3690651"/>
          </a:xfrm>
          <a:prstGeom prst="rect">
            <a:avLst/>
          </a:prstGeom>
        </p:spPr>
      </p:pic>
      <p:pic>
        <p:nvPicPr>
          <p:cNvPr id="6" name="Рисунок 5" descr="Изображение выглядит как текст, снимок экрана, График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DE47094-542E-9B53-B0EE-0E9759B4C5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3165" y="1762700"/>
            <a:ext cx="5278346" cy="3516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188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750163-EA3A-98D0-BE20-CEF0F93F7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Montserrat"/>
              </a:rPr>
              <a:t>Анализ полученного датасета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AE29073-2AD0-F4FE-74ED-E52880B65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>
                <a:latin typeface="Montserrat"/>
              </a:rPr>
              <a:t>Используя полученные датасеты с людьми, которые удовлетворяют гипотезам, составляем новый датасет, в котором будет отражено количество пересечений гипотез для каждого подозрительного человека. Люди с наибольшим пересечением - скорее всего шпионы.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989664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AD6A53-3724-4D0B-59E0-9A9047F14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Montserrat"/>
              </a:rPr>
              <a:t>Пример полученного датасета</a:t>
            </a:r>
            <a:endParaRPr lang="ru-RU" dirty="0"/>
          </a:p>
        </p:txBody>
      </p:sp>
      <p:pic>
        <p:nvPicPr>
          <p:cNvPr id="4" name="Рисунок 3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7BBC9C7-A0E5-43E4-2852-A316A43106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382" y="1711458"/>
            <a:ext cx="10172126" cy="3563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945053"/>
      </p:ext>
    </p:extLst>
  </p:cSld>
  <p:clrMapOvr>
    <a:masterClrMapping/>
  </p:clrMapOvr>
</p:sld>
</file>

<file path=ppt/theme/theme1.xml><?xml version="1.0" encoding="utf-8"?>
<a:theme xmlns:a="http://schemas.openxmlformats.org/drawingml/2006/main" name="9_Тема Office">
  <a:themeElements>
    <a:clrScheme name="КСиТ">
      <a:dk1>
        <a:srgbClr val="000000"/>
      </a:dk1>
      <a:lt1>
        <a:srgbClr val="FFFFFF"/>
      </a:lt1>
      <a:dk2>
        <a:srgbClr val="0953BA"/>
      </a:dk2>
      <a:lt2>
        <a:srgbClr val="FFFFFF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0_Тема Office">
  <a:themeElements>
    <a:clrScheme name="Другая 5">
      <a:dk1>
        <a:srgbClr val="000000"/>
      </a:dk1>
      <a:lt1>
        <a:srgbClr val="FFFFFF"/>
      </a:lt1>
      <a:dk2>
        <a:srgbClr val="0953BA"/>
      </a:dk2>
      <a:lt2>
        <a:srgbClr val="E8F2FF"/>
      </a:lt2>
      <a:accent1>
        <a:srgbClr val="0953BA"/>
      </a:accent1>
      <a:accent2>
        <a:srgbClr val="D60047"/>
      </a:accent2>
      <a:accent3>
        <a:srgbClr val="004098"/>
      </a:accent3>
      <a:accent4>
        <a:srgbClr val="00004F"/>
      </a:accent4>
      <a:accent5>
        <a:srgbClr val="70AD47"/>
      </a:accent5>
      <a:accent6>
        <a:srgbClr val="ED7D31"/>
      </a:accent6>
      <a:hlink>
        <a:srgbClr val="0953BA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Тема Office">
  <a:themeElements>
    <a:clrScheme name="КСиТ">
      <a:dk1>
        <a:srgbClr val="000000"/>
      </a:dk1>
      <a:lt1>
        <a:srgbClr val="FFFFFF"/>
      </a:lt1>
      <a:dk2>
        <a:srgbClr val="0953BA"/>
      </a:dk2>
      <a:lt2>
        <a:srgbClr val="FFFFFF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1_Тема Office">
  <a:themeElements>
    <a:clrScheme name="КСиТ">
      <a:dk1>
        <a:srgbClr val="000000"/>
      </a:dk1>
      <a:lt1>
        <a:srgbClr val="FFFFFF"/>
      </a:lt1>
      <a:dk2>
        <a:srgbClr val="0953BA"/>
      </a:dk2>
      <a:lt2>
        <a:srgbClr val="FFFFFF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11_Тема Office">
  <a:themeElements>
    <a:clrScheme name="КСиТ">
      <a:dk1>
        <a:srgbClr val="000000"/>
      </a:dk1>
      <a:lt1>
        <a:srgbClr val="FFFFFF"/>
      </a:lt1>
      <a:dk2>
        <a:srgbClr val="0953BA"/>
      </a:dk2>
      <a:lt2>
        <a:srgbClr val="FFFFFF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3_Тема Office">
  <a:themeElements>
    <a:clrScheme name="КСиТ">
      <a:dk1>
        <a:srgbClr val="000000"/>
      </a:dk1>
      <a:lt1>
        <a:srgbClr val="FFFFFF"/>
      </a:lt1>
      <a:dk2>
        <a:srgbClr val="0953BA"/>
      </a:dk2>
      <a:lt2>
        <a:srgbClr val="FFFFFF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4_Тема Office">
  <a:themeElements>
    <a:clrScheme name="КСиТ">
      <a:dk1>
        <a:srgbClr val="000000"/>
      </a:dk1>
      <a:lt1>
        <a:srgbClr val="FFFFFF"/>
      </a:lt1>
      <a:dk2>
        <a:srgbClr val="0953BA"/>
      </a:dk2>
      <a:lt2>
        <a:srgbClr val="FFFFFF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5_Тема Office">
  <a:themeElements>
    <a:clrScheme name="КСиТ">
      <a:dk1>
        <a:srgbClr val="000000"/>
      </a:dk1>
      <a:lt1>
        <a:srgbClr val="FFFFFF"/>
      </a:lt1>
      <a:dk2>
        <a:srgbClr val="0953BA"/>
      </a:dk2>
      <a:lt2>
        <a:srgbClr val="FFFFFF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6_Тема Office">
  <a:themeElements>
    <a:clrScheme name="КСиТ">
      <a:dk1>
        <a:srgbClr val="000000"/>
      </a:dk1>
      <a:lt1>
        <a:srgbClr val="FFFFFF"/>
      </a:lt1>
      <a:dk2>
        <a:srgbClr val="0953BA"/>
      </a:dk2>
      <a:lt2>
        <a:srgbClr val="FFFFFF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7_Тема Office">
  <a:themeElements>
    <a:clrScheme name="КСиТ">
      <a:dk1>
        <a:srgbClr val="000000"/>
      </a:dk1>
      <a:lt1>
        <a:srgbClr val="FFFFFF"/>
      </a:lt1>
      <a:dk2>
        <a:srgbClr val="0953BA"/>
      </a:dk2>
      <a:lt2>
        <a:srgbClr val="FFFFFF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8_Тема Office">
  <a:themeElements>
    <a:clrScheme name="КСиТ">
      <a:dk1>
        <a:srgbClr val="000000"/>
      </a:dk1>
      <a:lt1>
        <a:srgbClr val="FFFFFF"/>
      </a:lt1>
      <a:dk2>
        <a:srgbClr val="0953BA"/>
      </a:dk2>
      <a:lt2>
        <a:srgbClr val="FFFFFF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319</Words>
  <Application>Microsoft Office PowerPoint</Application>
  <PresentationFormat>Широкоэкранный</PresentationFormat>
  <Paragraphs>65</Paragraphs>
  <Slides>19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11</vt:i4>
      </vt:variant>
      <vt:variant>
        <vt:lpstr>Заголовки слайдов</vt:lpstr>
      </vt:variant>
      <vt:variant>
        <vt:i4>19</vt:i4>
      </vt:variant>
    </vt:vector>
  </HeadingPairs>
  <TitlesOfParts>
    <vt:vector size="30" baseType="lpstr">
      <vt:lpstr>9_Тема Office</vt:lpstr>
      <vt:lpstr>10_Тема Office</vt:lpstr>
      <vt:lpstr>2_Тема Office</vt:lpstr>
      <vt:lpstr>1_Тема Office</vt:lpstr>
      <vt:lpstr>11_Тема Office</vt:lpstr>
      <vt:lpstr>3_Тема Office</vt:lpstr>
      <vt:lpstr>4_Тема Office</vt:lpstr>
      <vt:lpstr>5_Тема Office</vt:lpstr>
      <vt:lpstr>6_Тема Office</vt:lpstr>
      <vt:lpstr>7_Тема Office</vt:lpstr>
      <vt:lpstr>8_Тема Office</vt:lpstr>
      <vt:lpstr>План действий</vt:lpstr>
      <vt:lpstr>Разведка</vt:lpstr>
      <vt:lpstr>Слитый json и xml</vt:lpstr>
      <vt:lpstr>Слитый json и xml и архив с документами</vt:lpstr>
      <vt:lpstr>Слитый json и xml и архив с документами</vt:lpstr>
      <vt:lpstr>Слитый json и xml и архив с документами</vt:lpstr>
      <vt:lpstr>Слитый json и xml и архив с документами и yaml</vt:lpstr>
      <vt:lpstr>Гипотезы: посетители важных международных мероприятий</vt:lpstr>
      <vt:lpstr>Гипотезы: отсутствие домашних аэропортов</vt:lpstr>
      <vt:lpstr>Гипотезы: много высоких статусов</vt:lpstr>
      <vt:lpstr>Гипотезы: слишком много высоких статусов</vt:lpstr>
      <vt:lpstr>Гипотезы: люди используют одинаковый документ</vt:lpstr>
      <vt:lpstr>Гипотезы: челночные полеты</vt:lpstr>
      <vt:lpstr>Результат проверки гипотезы "слишком много высоких статусов" </vt:lpstr>
      <vt:lpstr>Результат проверки гипотезы "челночные полеты" </vt:lpstr>
      <vt:lpstr>Результаты проверки гипотезы "отсутствие домашних аэропортов" </vt:lpstr>
      <vt:lpstr>Результаты проверки гипотезы "отсутствие домашних аэропортов" </vt:lpstr>
      <vt:lpstr>Анализ полученного датасета</vt:lpstr>
      <vt:lpstr>Пример полученного датасета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Nikita Shaklein</dc:creator>
  <cp:lastModifiedBy>Пользователь</cp:lastModifiedBy>
  <cp:revision>301</cp:revision>
  <dcterms:created xsi:type="dcterms:W3CDTF">2024-03-28T17:36:36Z</dcterms:created>
  <dcterms:modified xsi:type="dcterms:W3CDTF">2025-11-06T17:42:09Z</dcterms:modified>
</cp:coreProperties>
</file>