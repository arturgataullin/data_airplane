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9" r:id="rId1"/>
    <p:sldMasterId id="2147483671" r:id="rId2"/>
    <p:sldMasterId id="2147483655" r:id="rId3"/>
    <p:sldMasterId id="2147483653" r:id="rId4"/>
    <p:sldMasterId id="2147483673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</p:sldMasterIdLst>
  <p:handoutMasterIdLst>
    <p:handoutMasterId r:id="rId31"/>
  </p:handoutMasterIdLst>
  <p:sldIdLst>
    <p:sldId id="263" r:id="rId12"/>
    <p:sldId id="271" r:id="rId13"/>
    <p:sldId id="270" r:id="rId14"/>
    <p:sldId id="275" r:id="rId15"/>
    <p:sldId id="276" r:id="rId16"/>
    <p:sldId id="277" r:id="rId17"/>
    <p:sldId id="278" r:id="rId18"/>
    <p:sldId id="265" r:id="rId19"/>
    <p:sldId id="264" r:id="rId20"/>
    <p:sldId id="266" r:id="rId21"/>
    <p:sldId id="267" r:id="rId22"/>
    <p:sldId id="268" r:id="rId23"/>
    <p:sldId id="279" r:id="rId24"/>
    <p:sldId id="272" r:id="rId25"/>
    <p:sldId id="280" r:id="rId26"/>
    <p:sldId id="273" r:id="rId27"/>
    <p:sldId id="274" r:id="rId28"/>
    <p:sldId id="269" r:id="rId29"/>
    <p:sldId id="281" r:id="rId30"/>
  </p:sldIdLst>
  <p:sldSz cx="12192000" cy="6858000"/>
  <p:notesSz cx="6858000" cy="9144000"/>
  <p:embeddedFontLs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47"/>
    <a:srgbClr val="00004F"/>
    <a:srgbClr val="004098"/>
    <a:srgbClr val="E8F2FF"/>
    <a:srgbClr val="0953BA"/>
    <a:srgbClr val="809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44D9A-5019-FBA1-2E68-71760F7A2EC3}" v="5" dt="2025-11-07T13:29:39.867"/>
    <p1510:client id="{950011B5-378E-7B59-D6B8-8384A690BF74}" v="1675" dt="2025-11-06T17:41:42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8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font" Target="fonts/font8.fntdata"/><Relationship Id="rId21" Type="http://schemas.openxmlformats.org/officeDocument/2006/relationships/slide" Target="slides/slide1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font" Target="fonts/font5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handoutMaster" Target="handoutMasters/handoutMaster1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E3F43-65BD-4C41-B2A5-54A0542B934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1D6B-C639-4DCE-ACBE-ACBD018C47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426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46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22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39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73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60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15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80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83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96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953BA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5E86-4E3F-4428-9180-C4DFA3507F01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DFDE0F-88AD-4E49-8A17-00B261B40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418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Последний слайд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099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54" y="5143500"/>
            <a:ext cx="3951017" cy="1033463"/>
          </a:xfrm>
          <a:prstGeom prst="rect">
            <a:avLst/>
          </a:prstGeom>
        </p:spPr>
      </p:pic>
      <p:sp>
        <p:nvSpPr>
          <p:cNvPr id="9" name="Объект 2"/>
          <p:cNvSpPr>
            <a:spLocks noGrp="1"/>
          </p:cNvSpPr>
          <p:nvPr>
            <p:ph idx="10" hasCustomPrompt="1"/>
          </p:nvPr>
        </p:nvSpPr>
        <p:spPr>
          <a:xfrm>
            <a:off x="9492761" y="5207377"/>
            <a:ext cx="1515207" cy="21687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ru-RU" dirty="0"/>
              <a:t>+7 987 654 32 10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1" hasCustomPrompt="1"/>
          </p:nvPr>
        </p:nvSpPr>
        <p:spPr>
          <a:xfrm>
            <a:off x="9492761" y="5615618"/>
            <a:ext cx="2039814" cy="24678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info@dozen.mephi.ru</a:t>
            </a:r>
          </a:p>
        </p:txBody>
      </p:sp>
      <p:sp>
        <p:nvSpPr>
          <p:cNvPr id="11" name="Объект 2"/>
          <p:cNvSpPr>
            <a:spLocks noGrp="1"/>
          </p:cNvSpPr>
          <p:nvPr>
            <p:ph idx="12" hasCustomPrompt="1"/>
          </p:nvPr>
        </p:nvSpPr>
        <p:spPr>
          <a:xfrm>
            <a:off x="9492761" y="6018985"/>
            <a:ext cx="1599860" cy="26320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dozen.mephi.ru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093" y="6059208"/>
            <a:ext cx="182758" cy="18275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093" y="5640427"/>
            <a:ext cx="182758" cy="182758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093" y="5207377"/>
            <a:ext cx="182758" cy="18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9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02" y="1034207"/>
            <a:ext cx="3289764" cy="79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41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968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 b="1" dirty="0">
                <a:latin typeface="Montserrat" panose="00000500000000000000" pitchFamily="2" charset="-52"/>
              </a:rPr>
              <a:t>Титульный</a:t>
            </a:r>
            <a:r>
              <a:rPr lang="ru-RU" b="1" baseline="0" dirty="0">
                <a:latin typeface="Montserrat" panose="00000500000000000000" pitchFamily="2" charset="-52"/>
              </a:rPr>
              <a:t> слайд</a:t>
            </a:r>
            <a:endParaRPr lang="ru-RU" b="1" dirty="0">
              <a:latin typeface="Montserrat" panose="00000500000000000000" pitchFamily="2" charset="-52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4490299"/>
            <a:ext cx="7699130" cy="1766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ru-RU" sz="1800" dirty="0">
                <a:latin typeface="Montserrat" panose="00000500000000000000" pitchFamily="2" charset="-52"/>
              </a:rPr>
              <a:t>Разнообразный и богатый опыт начало повседневной работы по формированию позиции позволяет оценить значение новых предложений. С другой стороны укрепление и развитие структуры способствует подготовки и реализации направлений прогрессивного развития.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02" y="1034207"/>
            <a:ext cx="3289764" cy="79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5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 baseline="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877" y="0"/>
            <a:ext cx="776123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52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877" y="0"/>
            <a:ext cx="776123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1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0953BA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906" y="5948245"/>
            <a:ext cx="495123" cy="45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646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567" y="5903697"/>
            <a:ext cx="585800" cy="54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1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0953BA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603"/>
            <a:ext cx="12192000" cy="686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36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559"/>
            <a:ext cx="12192000" cy="68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5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0953BA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324605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3153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0953BA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rgbClr val="0953BA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8395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0953BA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rgbClr val="0953BA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9B6A-0E78-C8A4-0306-390E1321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42C30-78A9-D425-D000-DCD3CD61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План действий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4A9556-7E83-F441-AF39-9954CF456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687914"/>
            <a:ext cx="52723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</a:rPr>
              <a:t>1. Разведка.</a:t>
            </a:r>
            <a:endParaRPr lang="ru-RU" sz="2300" dirty="0">
              <a:latin typeface="Montserrat"/>
            </a:endParaRP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</a:rPr>
              <a:t>2. Парсинг данных из разных источников в формат </a:t>
            </a:r>
            <a:r>
              <a:rPr lang="ru-RU" sz="1800" dirty="0" err="1">
                <a:latin typeface="Montserrat"/>
              </a:rPr>
              <a:t>csv</a:t>
            </a:r>
            <a:r>
              <a:rPr lang="ru-RU" sz="1800" dirty="0">
                <a:latin typeface="Montserra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</a:rPr>
              <a:t>3.  Слияние данных.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</a:rPr>
              <a:t>4. Составление гипотез для проверки на шпиона.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</a:rPr>
              <a:t>5. Анализ полученного датасета с применением гипотез и выявление шпионов.</a:t>
            </a:r>
            <a:endParaRPr lang="ru-RU" sz="1800"/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63376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0AE6C-14EA-265B-5671-151D6AE9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706E0-AF69-8C28-8840-BA1F2C5C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Разведка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E07FE5-6C25-0FB1-DA22-9560003B5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715456"/>
            <a:ext cx="7402241" cy="4323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</a:rPr>
              <a:t>На этапе разведки нам необходимо выбрать файлы с данными, которые будут необходимы для выявления шпионов.</a:t>
            </a:r>
          </a:p>
        </p:txBody>
      </p:sp>
    </p:spTree>
    <p:extLst>
      <p:ext uri="{BB962C8B-B14F-4D97-AF65-F5344CB8AC3E}">
        <p14:creationId xmlns:p14="http://schemas.microsoft.com/office/powerpoint/2010/main" val="271346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7C034-3B6E-EFD4-7919-F5C40906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04DAA-57D0-2D56-A612-419F012B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Слитый </a:t>
            </a:r>
            <a:r>
              <a:rPr lang="ru-RU" dirty="0" err="1">
                <a:latin typeface="Montserrat"/>
              </a:rPr>
              <a:t>json</a:t>
            </a:r>
            <a:r>
              <a:rPr lang="ru-RU" dirty="0">
                <a:latin typeface="Montserrat"/>
              </a:rPr>
              <a:t> и </a:t>
            </a:r>
            <a:r>
              <a:rPr lang="ru-RU" dirty="0" err="1">
                <a:latin typeface="Montserrat"/>
              </a:rPr>
              <a:t>xml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230E1D-3A13-C2BC-5F85-6AF63DDA8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687914"/>
            <a:ext cx="52723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endParaRPr lang="ru-RU" sz="1800" dirty="0"/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0AE5E2-301C-24FA-5486-46398E0EA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99" y="1398452"/>
            <a:ext cx="10530290" cy="478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3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D219-04CC-F68B-58D5-0332D206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D8D46-DE07-2908-3199-2CBF087C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604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Слитый </a:t>
            </a:r>
            <a:r>
              <a:rPr lang="ru-RU" dirty="0" err="1">
                <a:latin typeface="Montserrat"/>
              </a:rPr>
              <a:t>json</a:t>
            </a:r>
            <a:r>
              <a:rPr lang="ru-RU" dirty="0">
                <a:latin typeface="Montserrat"/>
              </a:rPr>
              <a:t> и </a:t>
            </a:r>
            <a:r>
              <a:rPr lang="ru-RU" dirty="0" err="1">
                <a:latin typeface="Montserrat"/>
              </a:rPr>
              <a:t>xml</a:t>
            </a:r>
            <a:r>
              <a:rPr lang="ru-RU" dirty="0">
                <a:latin typeface="Montserrat"/>
              </a:rPr>
              <a:t> и архив с документами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90B6EE-BBB6-60D0-E992-9C767E5CD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687914"/>
            <a:ext cx="52723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endParaRPr lang="ru-RU" sz="1800" dirty="0"/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</a:endParaRPr>
          </a:p>
        </p:txBody>
      </p:sp>
      <p:pic>
        <p:nvPicPr>
          <p:cNvPr id="5" name="Рисунок 4" descr="Изображение выглядит как текст, снимок экрана, шаблон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A0BF4B-28CA-E947-9E88-9BBEE910B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944"/>
            <a:ext cx="10796531" cy="459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7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DB05-F007-DF8A-356E-AF0E53CB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99CE8-424F-70B7-96AB-F50FE9A7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510"/>
            <a:ext cx="10515600" cy="85734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Слитый </a:t>
            </a:r>
            <a:r>
              <a:rPr lang="ru-RU" dirty="0" err="1">
                <a:latin typeface="Montserrat"/>
              </a:rPr>
              <a:t>json</a:t>
            </a:r>
            <a:r>
              <a:rPr lang="ru-RU" dirty="0">
                <a:latin typeface="Montserrat"/>
              </a:rPr>
              <a:t> и </a:t>
            </a:r>
            <a:r>
              <a:rPr lang="ru-RU" dirty="0" err="1">
                <a:latin typeface="Montserrat"/>
              </a:rPr>
              <a:t>xml</a:t>
            </a:r>
            <a:r>
              <a:rPr lang="ru-RU" dirty="0">
                <a:latin typeface="Montserrat"/>
              </a:rPr>
              <a:t> и архив с документами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55B718-6FB3-5FA6-E07E-518D9884A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687914"/>
            <a:ext cx="52723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endParaRPr lang="ru-RU" sz="1800" dirty="0"/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</a:endParaRPr>
          </a:p>
        </p:txBody>
      </p:sp>
      <p:pic>
        <p:nvPicPr>
          <p:cNvPr id="4" name="Рисунок 3" descr="Изображение выглядит как текст, снимок экрана, шаб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A6EF32-0492-35D7-D5BE-12E6BF33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30" y="1202675"/>
            <a:ext cx="6580353" cy="532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6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E421F-C6C9-BDD1-D3C9-7AD9331E1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06F89-9A80-3B41-F6E4-9FAADCE8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510"/>
            <a:ext cx="10515600" cy="85734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Слитый </a:t>
            </a:r>
            <a:r>
              <a:rPr lang="ru-RU" dirty="0" err="1">
                <a:latin typeface="Montserrat"/>
              </a:rPr>
              <a:t>json</a:t>
            </a:r>
            <a:r>
              <a:rPr lang="ru-RU" dirty="0">
                <a:latin typeface="Montserrat"/>
              </a:rPr>
              <a:t> и </a:t>
            </a:r>
            <a:r>
              <a:rPr lang="ru-RU" dirty="0" err="1">
                <a:latin typeface="Montserrat"/>
              </a:rPr>
              <a:t>xml</a:t>
            </a:r>
            <a:r>
              <a:rPr lang="ru-RU" dirty="0">
                <a:latin typeface="Montserrat"/>
              </a:rPr>
              <a:t> и архив с документами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80A21D-37C8-DA50-222A-39AEED3AA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687914"/>
            <a:ext cx="52723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endParaRPr lang="ru-RU" sz="1800" dirty="0"/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</a:endParaRPr>
          </a:p>
        </p:txBody>
      </p:sp>
      <p:pic>
        <p:nvPicPr>
          <p:cNvPr id="5" name="Рисунок 4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DC2455-EA0C-F9CF-6364-CA3F1FAAD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65" y="1184314"/>
            <a:ext cx="6919628" cy="55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7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8712A-235C-9465-51F1-50EDE9F7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80CEF-40EA-802A-5422-6CBC99E8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361589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Слитый </a:t>
            </a:r>
            <a:r>
              <a:rPr lang="ru-RU" dirty="0" err="1">
                <a:latin typeface="Montserrat"/>
              </a:rPr>
              <a:t>json</a:t>
            </a:r>
            <a:r>
              <a:rPr lang="ru-RU" dirty="0">
                <a:latin typeface="Montserrat"/>
              </a:rPr>
              <a:t> и </a:t>
            </a:r>
            <a:r>
              <a:rPr lang="ru-RU" dirty="0" err="1">
                <a:latin typeface="Montserrat"/>
              </a:rPr>
              <a:t>xml</a:t>
            </a:r>
            <a:r>
              <a:rPr lang="ru-RU" dirty="0">
                <a:latin typeface="Montserrat"/>
              </a:rPr>
              <a:t> и архив с документами и </a:t>
            </a:r>
            <a:r>
              <a:rPr lang="ru-RU" dirty="0" err="1">
                <a:latin typeface="Montserrat"/>
              </a:rPr>
              <a:t>yaml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24ED22-2E3D-BC58-C3B9-DB87A41D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687914"/>
            <a:ext cx="52723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endParaRPr lang="ru-RU" sz="1800" dirty="0"/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</a:endParaRPr>
          </a:p>
        </p:txBody>
      </p:sp>
      <p:pic>
        <p:nvPicPr>
          <p:cNvPr id="6" name="Рисунок 5" descr="Изображение выглядит как текст, снимок экрана, число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19A30B-BB81-5FF2-4A54-C7A75A261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9" y="1168474"/>
            <a:ext cx="10842434" cy="512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77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81BF-2C0E-6988-138C-88286E64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6178E-1926-5B4A-A5FB-1C86B7B3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Гипотезы: посетители важных международных мероприятий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851916-16B6-452A-354F-6815EE9D6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715456"/>
            <a:ext cx="9963663" cy="4323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 Человек, прилетающий в город/страну, в которой скоро произойдет событие государственной важности, например, военные испытания, саммит глав стран и </a:t>
            </a:r>
            <a:r>
              <a:rPr lang="ru-RU" sz="1800" dirty="0" err="1">
                <a:latin typeface="Montserrat"/>
                <a:ea typeface="Roboto"/>
                <a:cs typeface="Roboto"/>
              </a:rPr>
              <a:t>тд</a:t>
            </a:r>
            <a:r>
              <a:rPr lang="ru-RU" sz="1800" dirty="0">
                <a:latin typeface="Montserrat"/>
                <a:ea typeface="Roboto"/>
                <a:cs typeface="Roboto"/>
              </a:rPr>
              <a:t>.</a:t>
            </a:r>
            <a:endParaRPr lang="ru-RU"/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 Была составлена таблица с городами и датами событий, которые в них произойдут. На основе нее были выбраны люди, летавшие туда в определённый промежуток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20375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7B37-8FB2-B4A3-4064-AD7D45C3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B9B81-78B3-A29D-3634-1903657B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Гипотезы: отсутствие домашних аэропортов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2E581-B450-8D2E-A3EE-1E9358D9F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715456"/>
            <a:ext cx="9963663" cy="4323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 У обычного человека, как правило, есть один-два домашних аэропорта, из которых он чаще всего вылетает и прилетает. У шпиона, скорее всего, такого аэропорта быть не может.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 На основе этой гипотез были выбраны люди, у которых не было домашнего аэропорта.</a:t>
            </a:r>
            <a:endParaRPr lang="ru-RU" sz="1800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8323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732D-FB8F-26BB-52FD-036720C6F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0700C-7233-5B06-DA51-FA85942C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Гипотезы: много высоких статусов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936391-1C55-1F58-61C2-E073BB8DF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715456"/>
            <a:ext cx="9963663" cy="4323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 Один пассажир имеет высокий статус (Elite, Elite+) одновременно в нескольких конкурирующих альянсах (SU, DT, KE). Это дорого и бессмысленно для обычного человека. А шпион может использовать такие привилегии для дешевого приобретения билетов.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 На основе этой гипотез были выбраны люди, у которых было больше или равно трех подписок класса Elite и выше.</a:t>
            </a: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0453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842C-5A0E-BEEE-ABDC-4DAC0EB4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475B4-6AF0-34B9-29C7-4965C651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Гипотезы: слишком много высоких статусов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805FB-3F99-6B1E-CE78-9F96953D6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715456"/>
            <a:ext cx="9963663" cy="4323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 Зачем обычному гражданину часто покупать билеты на иностранных площадках? Поэтому смотрим, кто покупает билеты на иностранных агрегаторах билетов: </a:t>
            </a:r>
            <a:r>
              <a:rPr lang="ru-RU" sz="1800" dirty="0" err="1">
                <a:latin typeface="Montserrat"/>
                <a:ea typeface="Roboto"/>
                <a:cs typeface="Roboto"/>
              </a:rPr>
              <a:t>AgentInfo</a:t>
            </a:r>
            <a:r>
              <a:rPr lang="ru-RU" sz="1800" dirty="0">
                <a:latin typeface="Montserrat"/>
                <a:ea typeface="Roboto"/>
                <a:cs typeface="Roboto"/>
              </a:rPr>
              <a:t>, Kiwi.com, </a:t>
            </a:r>
            <a:r>
              <a:rPr lang="ru-RU" sz="1800" dirty="0" err="1">
                <a:latin typeface="Montserrat"/>
                <a:ea typeface="Roboto"/>
                <a:cs typeface="Roboto"/>
              </a:rPr>
              <a:t>Travelgenio</a:t>
            </a:r>
            <a:r>
              <a:rPr lang="ru-RU" sz="1800" dirty="0">
                <a:latin typeface="Montserrat"/>
                <a:ea typeface="Roboto"/>
                <a:cs typeface="Roboto"/>
              </a:rPr>
              <a:t>, </a:t>
            </a:r>
            <a:r>
              <a:rPr lang="ru-RU" sz="1800" dirty="0" err="1">
                <a:latin typeface="Montserrat"/>
                <a:ea typeface="Roboto"/>
                <a:cs typeface="Roboto"/>
              </a:rPr>
              <a:t>eDreams</a:t>
            </a:r>
            <a:r>
              <a:rPr lang="ru-RU" sz="1800" dirty="0">
                <a:latin typeface="Montserrat"/>
                <a:ea typeface="Roboto"/>
                <a:cs typeface="Roboto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 На основе этой гипотез были выбраны люди, которые чаще всего покупали билеты на иностранных площадках.</a:t>
            </a: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30692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EE09-AB01-FA9F-2C7D-FD7F96B9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0A054-B44F-1D21-6D47-F0FC5230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Гипотезы: люди используют одинаковый</a:t>
            </a:r>
            <a:r>
              <a:rPr lang="ru-RU" sz="1800" b="0" dirty="0">
                <a:solidFill>
                  <a:srgbClr val="000000"/>
                </a:solidFill>
                <a:latin typeface="Montserrat"/>
              </a:rPr>
              <a:t> </a:t>
            </a:r>
            <a:r>
              <a:rPr lang="ru-RU" dirty="0">
                <a:latin typeface="Montserrat"/>
              </a:rPr>
              <a:t>документ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4DED26-D055-6AF8-CA0F-1AE6F1F85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715456"/>
            <a:ext cx="9963663" cy="4323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 Несколько человек летает с одним документом, такое возможно только если кто-то из них шпион.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 На основе этой гипотез были выбраны люди, которые летали по одному (одинаковому) документу.</a:t>
            </a: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2183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6642-0F9A-BE82-E928-74671CDC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45709-A2A8-5DC1-2C7F-C73783C9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Гипотезы: челночные полеты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3ACBAB-ED23-2B65-0068-B4FAAAEB2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98" y="1715456"/>
            <a:ext cx="9963663" cy="4323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Montserrat"/>
                <a:ea typeface="Roboto"/>
                <a:cs typeface="Roboto"/>
              </a:rPr>
              <a:t> Частые полеты А-&gt;B-&gt;A в короткие сроки (повторяющиеся "челночные" полеты в короткие сроки между одними и теми же двумя странами =&gt; подозрительно)</a:t>
            </a:r>
          </a:p>
          <a:p>
            <a:r>
              <a:rPr lang="ru-RU" sz="1800" dirty="0">
                <a:latin typeface="Montserrat"/>
                <a:ea typeface="Roboto"/>
                <a:cs typeface="Roboto"/>
              </a:rPr>
              <a:t> На основе этой гипотез были выбраны люди, которые часто совершали "челночные полеты".</a:t>
            </a: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68334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51E0-5752-5877-B55E-A31F2559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38504-A478-E5FD-231C-A0557267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152" y="39266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Результат проверки гипотезы "слишком много высоких статусов"</a:t>
            </a:r>
            <a:endParaRPr lang="ru-RU" b="0" dirty="0">
              <a:solidFill>
                <a:srgbClr val="000000"/>
              </a:solidFill>
              <a:latin typeface="Montserrat"/>
            </a:endParaRPr>
          </a:p>
          <a:p>
            <a:endParaRPr lang="ru-RU" dirty="0">
              <a:latin typeface="Montserra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44F116-F502-B92D-66A6-3BF6938D0B6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553598" y="1219373"/>
            <a:ext cx="9963663" cy="4960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  <p:pic>
        <p:nvPicPr>
          <p:cNvPr id="4" name="Рисунок 3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10917E-DFF3-1FD2-D13E-8224DBCDB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74" y="1464096"/>
            <a:ext cx="7636296" cy="475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99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578D-729D-97A8-4F16-5E150495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E2B67-4D3D-D94E-84D9-D0D013559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152" y="392667"/>
            <a:ext cx="10515600" cy="82980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Результат проверки гипотезы "</a:t>
            </a:r>
            <a:r>
              <a:rPr lang="ru-RU" sz="4900" dirty="0">
                <a:latin typeface="Montserrat"/>
              </a:rPr>
              <a:t>челночные полеты</a:t>
            </a:r>
            <a:r>
              <a:rPr lang="ru-RU" dirty="0">
                <a:latin typeface="Montserrat"/>
              </a:rPr>
              <a:t>"</a:t>
            </a:r>
            <a:endParaRPr lang="ru-RU" b="0" dirty="0">
              <a:solidFill>
                <a:srgbClr val="000000"/>
              </a:solidFill>
              <a:latin typeface="Montserrat"/>
            </a:endParaRPr>
          </a:p>
          <a:p>
            <a:endParaRPr lang="ru-RU" dirty="0">
              <a:latin typeface="Montserra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E1320F-BA6E-9B5C-9FA2-10C27EBEE9C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553598" y="1219373"/>
            <a:ext cx="9963663" cy="4960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  <p:pic>
        <p:nvPicPr>
          <p:cNvPr id="5" name="Рисунок 4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46215D-06BC-577E-3DB3-7877C22AD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1211856"/>
            <a:ext cx="9440627" cy="564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73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4A23-D10A-0EAE-9CBF-6E396461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12B38-4521-F18F-4A9B-8F9DAFC9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Результаты проверки гипотезы "</a:t>
            </a:r>
            <a:r>
              <a:rPr lang="ru-RU" sz="4900" dirty="0">
                <a:latin typeface="Montserrat"/>
              </a:rPr>
              <a:t>отсутствие домашних аэропортов</a:t>
            </a:r>
            <a:r>
              <a:rPr lang="ru-RU" dirty="0">
                <a:latin typeface="Montserrat"/>
              </a:rPr>
              <a:t>"</a:t>
            </a:r>
            <a:endParaRPr lang="ru-RU" b="0" dirty="0">
              <a:solidFill>
                <a:srgbClr val="000000"/>
              </a:solidFill>
              <a:latin typeface="Montserrat"/>
            </a:endParaRPr>
          </a:p>
          <a:p>
            <a:endParaRPr lang="ru-RU" dirty="0">
              <a:latin typeface="Montserra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29AD5-D254-1BF2-FC5A-BE87B17C61D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553598" y="1219373"/>
            <a:ext cx="9963663" cy="4960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  <p:pic>
        <p:nvPicPr>
          <p:cNvPr id="5" name="Рисунок 4" descr="Изображение выглядит как текст, снимок экран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55763F-594C-4462-3D10-5B840B5C7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743" y="1367928"/>
            <a:ext cx="7913214" cy="526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86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F313-36BE-0709-2D0D-44EF513D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DB078-141E-2139-3312-F81ED415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Montserrat"/>
              </a:rPr>
              <a:t>Результаты проверки гипотезы "отсутствие домашних аэропортов"</a:t>
            </a:r>
          </a:p>
          <a:p>
            <a:endParaRPr lang="ru-RU" dirty="0">
              <a:latin typeface="Montserra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94C741-5DCE-6B09-B486-3D34FFFAEB3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553598" y="1219373"/>
            <a:ext cx="9963663" cy="4960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ru-RU" sz="1800" dirty="0">
              <a:latin typeface="Montserrat"/>
              <a:ea typeface="Roboto"/>
              <a:cs typeface="Roboto"/>
            </a:endParaRPr>
          </a:p>
        </p:txBody>
      </p:sp>
      <p:pic>
        <p:nvPicPr>
          <p:cNvPr id="4" name="Рисунок 3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2A658A-45E9-8B65-698A-9E405AE5E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24" y="1680073"/>
            <a:ext cx="5608851" cy="3690651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E47094-542E-9B53-B0EE-0E9759B4C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165" y="1762700"/>
            <a:ext cx="5278346" cy="351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8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50163-EA3A-98D0-BE20-CEF0F93F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Анализ полученного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E29073-2AD0-F4FE-74ED-E52880B6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Montserrat"/>
              </a:rPr>
              <a:t>Используя полученные датасеты с людьми, которые удовлетворяют гипотезам, составляем новый датасет, в котором будет отражено количество пересечений гипотез для каждого подозрительного человека. Люди с наибольшим пересечением - скорее всего шпионы.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8966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D6A53-3724-4D0B-59E0-9A9047F1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ontserrat"/>
              </a:rPr>
              <a:t>Пример полученного датасета</a:t>
            </a: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588123-5A24-52E5-FAA8-0D11310C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52" y="1824267"/>
            <a:ext cx="11065755" cy="341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45053"/>
      </p:ext>
    </p:extLst>
  </p:cSld>
  <p:clrMapOvr>
    <a:masterClrMapping/>
  </p:clrMapOvr>
</p:sld>
</file>

<file path=ppt/theme/theme1.xml><?xml version="1.0" encoding="utf-8"?>
<a:theme xmlns:a="http://schemas.openxmlformats.org/drawingml/2006/main" name="9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Тема Office">
  <a:themeElements>
    <a:clrScheme name="Другая 5">
      <a:dk1>
        <a:srgbClr val="000000"/>
      </a:dk1>
      <a:lt1>
        <a:srgbClr val="FFFFFF"/>
      </a:lt1>
      <a:dk2>
        <a:srgbClr val="0953BA"/>
      </a:dk2>
      <a:lt2>
        <a:srgbClr val="E8F2FF"/>
      </a:lt2>
      <a:accent1>
        <a:srgbClr val="0953BA"/>
      </a:accent1>
      <a:accent2>
        <a:srgbClr val="D60047"/>
      </a:accent2>
      <a:accent3>
        <a:srgbClr val="004098"/>
      </a:accent3>
      <a:accent4>
        <a:srgbClr val="00004F"/>
      </a:accent4>
      <a:accent5>
        <a:srgbClr val="70AD47"/>
      </a:accent5>
      <a:accent6>
        <a:srgbClr val="ED7D31"/>
      </a:accent6>
      <a:hlink>
        <a:srgbClr val="0953BA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Тема Office">
  <a:themeElements>
    <a:clrScheme name="КСиТ">
      <a:dk1>
        <a:srgbClr val="000000"/>
      </a:dk1>
      <a:lt1>
        <a:srgbClr val="FFFFFF"/>
      </a:lt1>
      <a:dk2>
        <a:srgbClr val="0953B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319</Words>
  <Application>Microsoft Office PowerPoint</Application>
  <PresentationFormat>Широкоэкранный</PresentationFormat>
  <Paragraphs>65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11</vt:i4>
      </vt:variant>
      <vt:variant>
        <vt:lpstr>Заголовки слайдов</vt:lpstr>
      </vt:variant>
      <vt:variant>
        <vt:i4>19</vt:i4>
      </vt:variant>
    </vt:vector>
  </HeadingPairs>
  <TitlesOfParts>
    <vt:vector size="30" baseType="lpstr">
      <vt:lpstr>9_Тема Office</vt:lpstr>
      <vt:lpstr>10_Тема Office</vt:lpstr>
      <vt:lpstr>2_Тема Office</vt:lpstr>
      <vt:lpstr>1_Тема Office</vt:lpstr>
      <vt:lpstr>11_Тема Office</vt:lpstr>
      <vt:lpstr>3_Тема Office</vt:lpstr>
      <vt:lpstr>4_Тема Office</vt:lpstr>
      <vt:lpstr>5_Тема Office</vt:lpstr>
      <vt:lpstr>6_Тема Office</vt:lpstr>
      <vt:lpstr>7_Тема Office</vt:lpstr>
      <vt:lpstr>8_Тема Office</vt:lpstr>
      <vt:lpstr>План действий</vt:lpstr>
      <vt:lpstr>Разведка</vt:lpstr>
      <vt:lpstr>Слитый json и xml</vt:lpstr>
      <vt:lpstr>Слитый json и xml и архив с документами</vt:lpstr>
      <vt:lpstr>Слитый json и xml и архив с документами</vt:lpstr>
      <vt:lpstr>Слитый json и xml и архив с документами</vt:lpstr>
      <vt:lpstr>Слитый json и xml и архив с документами и yaml</vt:lpstr>
      <vt:lpstr>Гипотезы: посетители важных международных мероприятий</vt:lpstr>
      <vt:lpstr>Гипотезы: отсутствие домашних аэропортов</vt:lpstr>
      <vt:lpstr>Гипотезы: много высоких статусов</vt:lpstr>
      <vt:lpstr>Гипотезы: слишком много высоких статусов</vt:lpstr>
      <vt:lpstr>Гипотезы: люди используют одинаковый документ</vt:lpstr>
      <vt:lpstr>Гипотезы: челночные полеты</vt:lpstr>
      <vt:lpstr>Результат проверки гипотезы "слишком много высоких статусов" </vt:lpstr>
      <vt:lpstr>Результат проверки гипотезы "челночные полеты" </vt:lpstr>
      <vt:lpstr>Результаты проверки гипотезы "отсутствие домашних аэропортов" </vt:lpstr>
      <vt:lpstr>Результаты проверки гипотезы "отсутствие домашних аэропортов" </vt:lpstr>
      <vt:lpstr>Анализ полученного датасета</vt:lpstr>
      <vt:lpstr>Пример полученного датасета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Nikita Shaklein</dc:creator>
  <cp:lastModifiedBy>Пользователь</cp:lastModifiedBy>
  <cp:revision>304</cp:revision>
  <dcterms:created xsi:type="dcterms:W3CDTF">2024-03-28T17:36:36Z</dcterms:created>
  <dcterms:modified xsi:type="dcterms:W3CDTF">2025-11-07T13:30:39Z</dcterms:modified>
</cp:coreProperties>
</file>